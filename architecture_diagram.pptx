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57" r:id="rId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59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.svg"/><Relationship Id="rId4" Type="http://schemas.openxmlformats.org/officeDocument/2006/relationships/image" Target="../media/image5.sv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BE0DD-6BEC-7B2B-4840-D2827E69B4B8}"/>
              </a:ext>
            </a:extLst>
          </p:cNvPr>
          <p:cNvSpPr txBox="1"/>
          <p:nvPr/>
        </p:nvSpPr>
        <p:spPr>
          <a:xfrm>
            <a:off x="0" y="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项目背景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0579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962D-9834-E344-F47C-5D5CEC90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6F11D-9E5F-FFFD-076D-0BA4F50F93D0}"/>
              </a:ext>
            </a:extLst>
          </p:cNvPr>
          <p:cNvSpPr txBox="1"/>
          <p:nvPr/>
        </p:nvSpPr>
        <p:spPr>
          <a:xfrm>
            <a:off x="0" y="0"/>
            <a:ext cx="19623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迭代过程</a:t>
            </a:r>
            <a:r>
              <a:rPr lang="en-US" altLang="zh-CN" sz="1000" dirty="0"/>
              <a:t> – </a:t>
            </a:r>
            <a:r>
              <a:rPr lang="zh-CN" altLang="en-US" sz="1000" dirty="0"/>
              <a:t>（一）报告大纲生成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87061-C561-8074-F978-DD4F72143C0E}"/>
              </a:ext>
            </a:extLst>
          </p:cNvPr>
          <p:cNvSpPr txBox="1"/>
          <p:nvPr/>
        </p:nvSpPr>
        <p:spPr>
          <a:xfrm>
            <a:off x="1776063" y="647843"/>
            <a:ext cx="3658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Chunk</a:t>
            </a:r>
            <a:endParaRPr lang="en-US" sz="5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19C0BB-4350-0603-38FA-8943EDC5EF49}"/>
              </a:ext>
            </a:extLst>
          </p:cNvPr>
          <p:cNvCxnSpPr>
            <a:cxnSpLocks/>
          </p:cNvCxnSpPr>
          <p:nvPr/>
        </p:nvCxnSpPr>
        <p:spPr>
          <a:xfrm>
            <a:off x="2213628" y="562710"/>
            <a:ext cx="0" cy="378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4">
            <a:extLst>
              <a:ext uri="{FF2B5EF4-FFF2-40B4-BE49-F238E27FC236}">
                <a16:creationId xmlns:a16="http://schemas.microsoft.com/office/drawing/2014/main" id="{4EED5765-A336-80C8-ADEE-5218CCD75A28}"/>
              </a:ext>
            </a:extLst>
          </p:cNvPr>
          <p:cNvSpPr/>
          <p:nvPr/>
        </p:nvSpPr>
        <p:spPr>
          <a:xfrm>
            <a:off x="1823168" y="412319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Local corpus</a:t>
            </a:r>
          </a:p>
        </p:txBody>
      </p:sp>
      <p:sp>
        <p:nvSpPr>
          <p:cNvPr id="16" name="L4">
            <a:extLst>
              <a:ext uri="{FF2B5EF4-FFF2-40B4-BE49-F238E27FC236}">
                <a16:creationId xmlns:a16="http://schemas.microsoft.com/office/drawing/2014/main" id="{C52F89BF-1F34-2324-0526-E835C4A61BA9}"/>
              </a:ext>
            </a:extLst>
          </p:cNvPr>
          <p:cNvSpPr/>
          <p:nvPr/>
        </p:nvSpPr>
        <p:spPr>
          <a:xfrm>
            <a:off x="1923116" y="888875"/>
            <a:ext cx="581024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Chunks</a:t>
            </a:r>
            <a:endParaRPr lang="en-US" sz="800" dirty="0"/>
          </a:p>
        </p:txBody>
      </p:sp>
      <p:sp>
        <p:nvSpPr>
          <p:cNvPr id="17" name="L4">
            <a:extLst>
              <a:ext uri="{FF2B5EF4-FFF2-40B4-BE49-F238E27FC236}">
                <a16:creationId xmlns:a16="http://schemas.microsoft.com/office/drawing/2014/main" id="{5E000240-2231-B9E5-B13C-68C3C5643878}"/>
              </a:ext>
            </a:extLst>
          </p:cNvPr>
          <p:cNvSpPr/>
          <p:nvPr/>
        </p:nvSpPr>
        <p:spPr>
          <a:xfrm>
            <a:off x="1823168" y="1365431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Embeddings </a:t>
            </a:r>
            <a:endParaRPr lang="en-US" sz="8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304543-0B4D-B4D0-9675-3B066900492C}"/>
              </a:ext>
            </a:extLst>
          </p:cNvPr>
          <p:cNvGrpSpPr/>
          <p:nvPr/>
        </p:nvGrpSpPr>
        <p:grpSpPr>
          <a:xfrm>
            <a:off x="4699834" y="3087442"/>
            <a:ext cx="526106" cy="385283"/>
            <a:chOff x="6419017" y="1216316"/>
            <a:chExt cx="526106" cy="38528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FD93C6-7EAF-3EF8-CCEB-15D2A7637491}"/>
                </a:ext>
              </a:extLst>
            </p:cNvPr>
            <p:cNvSpPr txBox="1"/>
            <p:nvPr/>
          </p:nvSpPr>
          <p:spPr>
            <a:xfrm>
              <a:off x="6419017" y="1386155"/>
              <a:ext cx="5261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Planner</a:t>
              </a:r>
              <a:endParaRPr lang="en-US" sz="8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3239E56-9A0C-DDF7-0D48-19088E57B7C3}"/>
                </a:ext>
              </a:extLst>
            </p:cNvPr>
            <p:cNvSpPr/>
            <p:nvPr/>
          </p:nvSpPr>
          <p:spPr>
            <a:xfrm>
              <a:off x="6571847" y="121631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6060D82-9A27-9FAC-71E2-387C883A2C80}"/>
              </a:ext>
            </a:extLst>
          </p:cNvPr>
          <p:cNvGrpSpPr/>
          <p:nvPr/>
        </p:nvGrpSpPr>
        <p:grpSpPr>
          <a:xfrm>
            <a:off x="4689415" y="4430183"/>
            <a:ext cx="546945" cy="414179"/>
            <a:chOff x="6835179" y="3016134"/>
            <a:chExt cx="546945" cy="41417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B555AEA-92AF-DC3D-E77A-D938DEB54262}"/>
                </a:ext>
              </a:extLst>
            </p:cNvPr>
            <p:cNvSpPr txBox="1"/>
            <p:nvPr/>
          </p:nvSpPr>
          <p:spPr>
            <a:xfrm>
              <a:off x="6835179" y="3214869"/>
              <a:ext cx="54694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Outliner</a:t>
              </a:r>
              <a:endParaRPr lang="en-US" sz="800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0350AE-AFE2-5A79-0FB0-D655539BB636}"/>
                </a:ext>
              </a:extLst>
            </p:cNvPr>
            <p:cNvSpPr/>
            <p:nvPr/>
          </p:nvSpPr>
          <p:spPr>
            <a:xfrm>
              <a:off x="6998428" y="3016134"/>
              <a:ext cx="220447" cy="2204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703041-1410-7852-6C93-7DB67D380A4A}"/>
              </a:ext>
            </a:extLst>
          </p:cNvPr>
          <p:cNvGrpSpPr/>
          <p:nvPr/>
        </p:nvGrpSpPr>
        <p:grpSpPr>
          <a:xfrm>
            <a:off x="4646637" y="1530031"/>
            <a:ext cx="632500" cy="409219"/>
            <a:chOff x="4235975" y="1530031"/>
            <a:chExt cx="632500" cy="40921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D134D74-84B8-6B3E-C566-5EF0CAF00405}"/>
                </a:ext>
              </a:extLst>
            </p:cNvPr>
            <p:cNvSpPr txBox="1"/>
            <p:nvPr/>
          </p:nvSpPr>
          <p:spPr>
            <a:xfrm>
              <a:off x="4235975" y="1723806"/>
              <a:ext cx="6325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Retriever</a:t>
              </a:r>
              <a:endParaRPr lang="en-US" sz="80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5D97C8B-9D9A-92BF-EBFA-F1E50916FB25}"/>
                </a:ext>
              </a:extLst>
            </p:cNvPr>
            <p:cNvSpPr/>
            <p:nvPr/>
          </p:nvSpPr>
          <p:spPr>
            <a:xfrm>
              <a:off x="4442002" y="1530031"/>
              <a:ext cx="220447" cy="2204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L4">
            <a:extLst>
              <a:ext uri="{FF2B5EF4-FFF2-40B4-BE49-F238E27FC236}">
                <a16:creationId xmlns:a16="http://schemas.microsoft.com/office/drawing/2014/main" id="{6945654B-432C-A971-22D7-4E3E144DD2F0}"/>
              </a:ext>
            </a:extLst>
          </p:cNvPr>
          <p:cNvSpPr/>
          <p:nvPr/>
        </p:nvSpPr>
        <p:spPr>
          <a:xfrm>
            <a:off x="6667657" y="4465210"/>
            <a:ext cx="924964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O</a:t>
            </a:r>
            <a:r>
              <a:rPr lang="en-US" sz="800" dirty="0" err="1"/>
              <a:t>utline</a:t>
            </a:r>
            <a:r>
              <a:rPr lang="en-US" sz="800" dirty="0"/>
              <a:t> Artifact</a:t>
            </a:r>
          </a:p>
        </p:txBody>
      </p:sp>
      <p:sp>
        <p:nvSpPr>
          <p:cNvPr id="74" name="L4">
            <a:extLst>
              <a:ext uri="{FF2B5EF4-FFF2-40B4-BE49-F238E27FC236}">
                <a16:creationId xmlns:a16="http://schemas.microsoft.com/office/drawing/2014/main" id="{5370BFEE-E5DF-8718-CE2C-3C5C5410A739}"/>
              </a:ext>
            </a:extLst>
          </p:cNvPr>
          <p:cNvSpPr/>
          <p:nvPr/>
        </p:nvSpPr>
        <p:spPr>
          <a:xfrm>
            <a:off x="3615853" y="342968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Query topic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CA23A6-8373-52B1-EDB2-43B478C01363}"/>
              </a:ext>
            </a:extLst>
          </p:cNvPr>
          <p:cNvGrpSpPr/>
          <p:nvPr/>
        </p:nvGrpSpPr>
        <p:grpSpPr>
          <a:xfrm>
            <a:off x="6609623" y="1313862"/>
            <a:ext cx="652784" cy="816644"/>
            <a:chOff x="5897142" y="1313862"/>
            <a:chExt cx="652784" cy="816644"/>
          </a:xfrm>
        </p:grpSpPr>
        <p:pic>
          <p:nvPicPr>
            <p:cNvPr id="98" name="Graphic 97" descr="Social network outline">
              <a:extLst>
                <a:ext uri="{FF2B5EF4-FFF2-40B4-BE49-F238E27FC236}">
                  <a16:creationId xmlns:a16="http://schemas.microsoft.com/office/drawing/2014/main" id="{269AADCC-F21E-14C7-2505-58B4B237C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97142" y="1313862"/>
              <a:ext cx="652784" cy="652784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DCED2D8-495D-5E88-E51B-8D95C05670FE}"/>
                </a:ext>
              </a:extLst>
            </p:cNvPr>
            <p:cNvSpPr txBox="1"/>
            <p:nvPr/>
          </p:nvSpPr>
          <p:spPr>
            <a:xfrm>
              <a:off x="6029410" y="1915062"/>
              <a:ext cx="3882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800" dirty="0"/>
                <a:t>Web</a:t>
              </a:r>
              <a:endParaRPr lang="en-US" sz="800" dirty="0"/>
            </a:p>
          </p:txBody>
        </p:sp>
      </p:grpSp>
      <p:sp>
        <p:nvSpPr>
          <p:cNvPr id="115" name="Oval 114">
            <a:extLst>
              <a:ext uri="{FF2B5EF4-FFF2-40B4-BE49-F238E27FC236}">
                <a16:creationId xmlns:a16="http://schemas.microsoft.com/office/drawing/2014/main" id="{D3DD349B-90D5-9AC0-F691-412A1DC55940}"/>
              </a:ext>
            </a:extLst>
          </p:cNvPr>
          <p:cNvSpPr/>
          <p:nvPr/>
        </p:nvSpPr>
        <p:spPr>
          <a:xfrm>
            <a:off x="3896090" y="1530031"/>
            <a:ext cx="220447" cy="22044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480BE1-2845-D107-0180-D88BAB23A971}"/>
              </a:ext>
            </a:extLst>
          </p:cNvPr>
          <p:cNvGrpSpPr/>
          <p:nvPr/>
        </p:nvGrpSpPr>
        <p:grpSpPr>
          <a:xfrm>
            <a:off x="1907294" y="1841986"/>
            <a:ext cx="612668" cy="567377"/>
            <a:chOff x="3104987" y="1358782"/>
            <a:chExt cx="612668" cy="567377"/>
          </a:xfrm>
        </p:grpSpPr>
        <p:pic>
          <p:nvPicPr>
            <p:cNvPr id="159" name="Picture 2" descr="Database - Free technology icons">
              <a:extLst>
                <a:ext uri="{FF2B5EF4-FFF2-40B4-BE49-F238E27FC236}">
                  <a16:creationId xmlns:a16="http://schemas.microsoft.com/office/drawing/2014/main" id="{C8464326-37D1-EA1A-7703-117694146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809" y="1358782"/>
              <a:ext cx="581024" cy="384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936FC8C-02A2-74B0-108A-B6BC4FF2B155}"/>
                </a:ext>
              </a:extLst>
            </p:cNvPr>
            <p:cNvSpPr txBox="1"/>
            <p:nvPr/>
          </p:nvSpPr>
          <p:spPr>
            <a:xfrm>
              <a:off x="3104987" y="1710715"/>
              <a:ext cx="6126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800" dirty="0"/>
                <a:t>Graph DB</a:t>
              </a:r>
              <a:endParaRPr lang="en-US" sz="800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8FEE1AF-CE9C-6F33-36A9-B91FDCD3F1C6}"/>
              </a:ext>
            </a:extLst>
          </p:cNvPr>
          <p:cNvGrpSpPr/>
          <p:nvPr/>
        </p:nvGrpSpPr>
        <p:grpSpPr>
          <a:xfrm>
            <a:off x="5658623" y="760590"/>
            <a:ext cx="1108710" cy="385283"/>
            <a:chOff x="6127715" y="1216316"/>
            <a:chExt cx="1108710" cy="385283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2B04E2E-E81A-512C-0700-1D7B909550F3}"/>
                </a:ext>
              </a:extLst>
            </p:cNvPr>
            <p:cNvSpPr txBox="1"/>
            <p:nvPr/>
          </p:nvSpPr>
          <p:spPr>
            <a:xfrm>
              <a:off x="6127715" y="1386155"/>
              <a:ext cx="11087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Query Expander</a:t>
              </a:r>
              <a:endParaRPr lang="en-US" sz="800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5925044-344F-C4E1-D829-E829ADB8BD97}"/>
                </a:ext>
              </a:extLst>
            </p:cNvPr>
            <p:cNvSpPr/>
            <p:nvPr/>
          </p:nvSpPr>
          <p:spPr>
            <a:xfrm>
              <a:off x="6571847" y="121631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B4FF7B4-46A3-4487-4958-109E65376AD0}"/>
              </a:ext>
            </a:extLst>
          </p:cNvPr>
          <p:cNvCxnSpPr>
            <a:cxnSpLocks/>
            <a:stCxn id="74" idx="2"/>
            <a:endCxn id="115" idx="0"/>
          </p:cNvCxnSpPr>
          <p:nvPr/>
        </p:nvCxnSpPr>
        <p:spPr>
          <a:xfrm>
            <a:off x="4006314" y="493359"/>
            <a:ext cx="0" cy="10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5F10AF6-4B98-7287-ED9C-C3E2EF6FFE5D}"/>
              </a:ext>
            </a:extLst>
          </p:cNvPr>
          <p:cNvCxnSpPr>
            <a:cxnSpLocks/>
            <a:stCxn id="51" idx="6"/>
            <a:endCxn id="98" idx="1"/>
          </p:cNvCxnSpPr>
          <p:nvPr/>
        </p:nvCxnSpPr>
        <p:spPr>
          <a:xfrm flipV="1">
            <a:off x="5073111" y="1640254"/>
            <a:ext cx="15365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08CA134E-579B-1BD6-820E-F44D6B1A81BF}"/>
              </a:ext>
            </a:extLst>
          </p:cNvPr>
          <p:cNvGrpSpPr/>
          <p:nvPr/>
        </p:nvGrpSpPr>
        <p:grpSpPr>
          <a:xfrm>
            <a:off x="11979113" y="1681779"/>
            <a:ext cx="806631" cy="385282"/>
            <a:chOff x="6278755" y="1885666"/>
            <a:chExt cx="806631" cy="385282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137EB87-8245-4D2E-9A68-DFD61D4E4921}"/>
                </a:ext>
              </a:extLst>
            </p:cNvPr>
            <p:cNvSpPr txBox="1"/>
            <p:nvPr/>
          </p:nvSpPr>
          <p:spPr>
            <a:xfrm>
              <a:off x="6278755" y="2055504"/>
              <a:ext cx="8066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800" dirty="0"/>
                <a:t>Plan Reviewer</a:t>
              </a:r>
              <a:endParaRPr lang="en-US" sz="800" dirty="0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FC03A546-8200-EC70-BCA1-70862270B9C5}"/>
                </a:ext>
              </a:extLst>
            </p:cNvPr>
            <p:cNvSpPr/>
            <p:nvPr/>
          </p:nvSpPr>
          <p:spPr>
            <a:xfrm>
              <a:off x="6571847" y="188566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07AD48E-C74A-E093-766E-04A9EA5AECFB}"/>
              </a:ext>
            </a:extLst>
          </p:cNvPr>
          <p:cNvCxnSpPr>
            <a:cxnSpLocks/>
            <a:stCxn id="99" idx="2"/>
            <a:endCxn id="190" idx="0"/>
          </p:cNvCxnSpPr>
          <p:nvPr/>
        </p:nvCxnSpPr>
        <p:spPr>
          <a:xfrm>
            <a:off x="6936015" y="2130506"/>
            <a:ext cx="0" cy="2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16984D32-F278-AB86-4635-CF9CFAB59DA5}"/>
              </a:ext>
            </a:extLst>
          </p:cNvPr>
          <p:cNvSpPr txBox="1"/>
          <p:nvPr/>
        </p:nvSpPr>
        <p:spPr>
          <a:xfrm>
            <a:off x="4395469" y="2657017"/>
            <a:ext cx="628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 err="1"/>
              <a:t>Clusterer</a:t>
            </a:r>
            <a:endParaRPr lang="en-US" sz="800" dirty="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5B2B30DA-7AFE-2D66-7869-39F22807E715}"/>
              </a:ext>
            </a:extLst>
          </p:cNvPr>
          <p:cNvSpPr/>
          <p:nvPr/>
        </p:nvSpPr>
        <p:spPr>
          <a:xfrm>
            <a:off x="4599578" y="2468416"/>
            <a:ext cx="220447" cy="2204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35C80B8F-7244-2BC2-4627-7B41A33D4CF6}"/>
              </a:ext>
            </a:extLst>
          </p:cNvPr>
          <p:cNvCxnSpPr>
            <a:cxnSpLocks/>
            <a:stCxn id="205" idx="6"/>
            <a:endCxn id="190" idx="1"/>
          </p:cNvCxnSpPr>
          <p:nvPr/>
        </p:nvCxnSpPr>
        <p:spPr>
          <a:xfrm>
            <a:off x="4820025" y="2578640"/>
            <a:ext cx="182547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L4">
            <a:extLst>
              <a:ext uri="{FF2B5EF4-FFF2-40B4-BE49-F238E27FC236}">
                <a16:creationId xmlns:a16="http://schemas.microsoft.com/office/drawing/2014/main" id="{1D486A38-6F95-EE00-5B5A-7B2863C5443D}"/>
              </a:ext>
            </a:extLst>
          </p:cNvPr>
          <p:cNvSpPr/>
          <p:nvPr/>
        </p:nvSpPr>
        <p:spPr>
          <a:xfrm>
            <a:off x="4572427" y="3629925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Plan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C2782-0E7B-4887-8545-5E1FE70C0406}"/>
              </a:ext>
            </a:extLst>
          </p:cNvPr>
          <p:cNvSpPr txBox="1"/>
          <p:nvPr/>
        </p:nvSpPr>
        <p:spPr>
          <a:xfrm>
            <a:off x="4116537" y="707412"/>
            <a:ext cx="178927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Expand query + return expanded query pool to orchestrator</a:t>
            </a:r>
            <a:endParaRPr lang="en-US" sz="5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CC96D9A-1E58-C615-861B-48FA2B20E2F4}"/>
              </a:ext>
            </a:extLst>
          </p:cNvPr>
          <p:cNvCxnSpPr>
            <a:stCxn id="115" idx="7"/>
            <a:endCxn id="168" idx="2"/>
          </p:cNvCxnSpPr>
          <p:nvPr/>
        </p:nvCxnSpPr>
        <p:spPr>
          <a:xfrm rot="5400000" flipH="1" flipV="1">
            <a:off x="4747754" y="207314"/>
            <a:ext cx="691501" cy="20185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8A3847-739C-FF76-133B-014A300EB093}"/>
              </a:ext>
            </a:extLst>
          </p:cNvPr>
          <p:cNvCxnSpPr>
            <a:stCxn id="115" idx="6"/>
            <a:endCxn id="51" idx="2"/>
          </p:cNvCxnSpPr>
          <p:nvPr/>
        </p:nvCxnSpPr>
        <p:spPr>
          <a:xfrm>
            <a:off x="4116537" y="1640255"/>
            <a:ext cx="7361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D522253-6AB6-987F-952E-2C5716521A04}"/>
              </a:ext>
            </a:extLst>
          </p:cNvPr>
          <p:cNvCxnSpPr>
            <a:stCxn id="115" idx="5"/>
            <a:endCxn id="205" idx="2"/>
          </p:cNvCxnSpPr>
          <p:nvPr/>
        </p:nvCxnSpPr>
        <p:spPr>
          <a:xfrm rot="16200000" flipH="1">
            <a:off x="3911692" y="1890754"/>
            <a:ext cx="860446" cy="5153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FB9E175-96CB-908E-5DD9-C16C719BE05F}"/>
              </a:ext>
            </a:extLst>
          </p:cNvPr>
          <p:cNvCxnSpPr>
            <a:stCxn id="115" idx="4"/>
            <a:endCxn id="35" idx="2"/>
          </p:cNvCxnSpPr>
          <p:nvPr/>
        </p:nvCxnSpPr>
        <p:spPr>
          <a:xfrm rot="16200000" flipH="1">
            <a:off x="3705895" y="2050897"/>
            <a:ext cx="1447188" cy="846350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1577179-6B72-304F-CBFB-FE4BB5AB702F}"/>
              </a:ext>
            </a:extLst>
          </p:cNvPr>
          <p:cNvCxnSpPr>
            <a:cxnSpLocks/>
            <a:stCxn id="191" idx="2"/>
            <a:endCxn id="35" idx="6"/>
          </p:cNvCxnSpPr>
          <p:nvPr/>
        </p:nvCxnSpPr>
        <p:spPr>
          <a:xfrm rot="5400000">
            <a:off x="5922946" y="2169560"/>
            <a:ext cx="178271" cy="1877940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4CE5D1-7DBE-C856-1940-53596722FA7D}"/>
              </a:ext>
            </a:extLst>
          </p:cNvPr>
          <p:cNvCxnSpPr>
            <a:cxnSpLocks/>
            <a:stCxn id="34" idx="2"/>
            <a:endCxn id="218" idx="0"/>
          </p:cNvCxnSpPr>
          <p:nvPr/>
        </p:nvCxnSpPr>
        <p:spPr>
          <a:xfrm>
            <a:off x="4962887" y="3472725"/>
            <a:ext cx="1" cy="1572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87E17BD-25B4-7C76-FB3F-F001D05BDC1C}"/>
              </a:ext>
            </a:extLst>
          </p:cNvPr>
          <p:cNvCxnSpPr>
            <a:stCxn id="44" idx="6"/>
            <a:endCxn id="64" idx="1"/>
          </p:cNvCxnSpPr>
          <p:nvPr/>
        </p:nvCxnSpPr>
        <p:spPr>
          <a:xfrm flipV="1">
            <a:off x="5073111" y="4540406"/>
            <a:ext cx="15945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CA47951C-A87E-6886-B9C1-2F7518EF4D5E}"/>
              </a:ext>
            </a:extLst>
          </p:cNvPr>
          <p:cNvCxnSpPr>
            <a:stCxn id="115" idx="3"/>
            <a:endCxn id="44" idx="2"/>
          </p:cNvCxnSpPr>
          <p:nvPr/>
        </p:nvCxnSpPr>
        <p:spPr>
          <a:xfrm rot="16200000" flipH="1">
            <a:off x="2979413" y="2667155"/>
            <a:ext cx="2822213" cy="9242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923702E-1D2D-94DD-E219-FBD1BAD7A37C}"/>
              </a:ext>
            </a:extLst>
          </p:cNvPr>
          <p:cNvSpPr txBox="1"/>
          <p:nvPr/>
        </p:nvSpPr>
        <p:spPr>
          <a:xfrm>
            <a:off x="3641737" y="1848670"/>
            <a:ext cx="75373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A" sz="800" dirty="0"/>
              <a:t>Orchestrator</a:t>
            </a:r>
            <a:endParaRPr lang="en-US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374E4-0F9A-CC22-EF57-0A32EDEFAB8B}"/>
              </a:ext>
            </a:extLst>
          </p:cNvPr>
          <p:cNvSpPr txBox="1"/>
          <p:nvPr/>
        </p:nvSpPr>
        <p:spPr>
          <a:xfrm>
            <a:off x="5314559" y="1468696"/>
            <a:ext cx="99418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Search with expanded query</a:t>
            </a:r>
            <a:endParaRPr lang="en-US" sz="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A7F59-8AC0-1EBE-143B-7825732EB0D4}"/>
              </a:ext>
            </a:extLst>
          </p:cNvPr>
          <p:cNvSpPr txBox="1"/>
          <p:nvPr/>
        </p:nvSpPr>
        <p:spPr>
          <a:xfrm>
            <a:off x="6951051" y="2131383"/>
            <a:ext cx="10454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Stores chunks and embeddings</a:t>
            </a:r>
            <a:endParaRPr lang="en-US" sz="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2C60C-8020-F5B4-92D1-E9CD0B8862CA}"/>
              </a:ext>
            </a:extLst>
          </p:cNvPr>
          <p:cNvSpPr txBox="1"/>
          <p:nvPr/>
        </p:nvSpPr>
        <p:spPr>
          <a:xfrm>
            <a:off x="4777609" y="2409363"/>
            <a:ext cx="89639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Cluster document chunks</a:t>
            </a:r>
            <a:endParaRPr lang="en-US" sz="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031FA-CC38-0299-DEF4-C3135F362A10}"/>
              </a:ext>
            </a:extLst>
          </p:cNvPr>
          <p:cNvSpPr txBox="1"/>
          <p:nvPr/>
        </p:nvSpPr>
        <p:spPr>
          <a:xfrm>
            <a:off x="5073111" y="2962812"/>
            <a:ext cx="1756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00" dirty="0"/>
              <a:t>Use top k chunks from the top j clusters of highest vector similarity with query topic + return plan to orchestrator</a:t>
            </a:r>
            <a:endParaRPr lang="en-US" sz="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A6963-DEC9-5BF4-9D3F-070838A37B48}"/>
              </a:ext>
            </a:extLst>
          </p:cNvPr>
          <p:cNvSpPr txBox="1"/>
          <p:nvPr/>
        </p:nvSpPr>
        <p:spPr>
          <a:xfrm>
            <a:off x="5244583" y="2656908"/>
            <a:ext cx="966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Cluster </a:t>
            </a:r>
            <a:r>
              <a:rPr lang="en-US" sz="800" dirty="0" err="1"/>
              <a:t>Labeller</a:t>
            </a:r>
            <a:endParaRPr lang="en-US" sz="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F816D4-9727-C8B6-6E3F-782A172E301A}"/>
              </a:ext>
            </a:extLst>
          </p:cNvPr>
          <p:cNvSpPr/>
          <p:nvPr/>
        </p:nvSpPr>
        <p:spPr>
          <a:xfrm>
            <a:off x="5617399" y="2468307"/>
            <a:ext cx="220447" cy="2204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E80EC3-8183-2146-B69A-8F35244CCC55}"/>
              </a:ext>
            </a:extLst>
          </p:cNvPr>
          <p:cNvSpPr txBox="1"/>
          <p:nvPr/>
        </p:nvSpPr>
        <p:spPr>
          <a:xfrm>
            <a:off x="5888621" y="2409363"/>
            <a:ext cx="59984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Labels clusters</a:t>
            </a:r>
            <a:endParaRPr lang="en-US" sz="5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CD65AF-A570-2C25-3865-A70169659358}"/>
              </a:ext>
            </a:extLst>
          </p:cNvPr>
          <p:cNvGrpSpPr/>
          <p:nvPr/>
        </p:nvGrpSpPr>
        <p:grpSpPr>
          <a:xfrm>
            <a:off x="6521399" y="2386552"/>
            <a:ext cx="859304" cy="632843"/>
            <a:chOff x="5965774" y="2281777"/>
            <a:chExt cx="859304" cy="632843"/>
          </a:xfrm>
        </p:grpSpPr>
        <p:pic>
          <p:nvPicPr>
            <p:cNvPr id="190" name="Picture 2" descr="Database - Free technology icons">
              <a:extLst>
                <a:ext uri="{FF2B5EF4-FFF2-40B4-BE49-F238E27FC236}">
                  <a16:creationId xmlns:a16="http://schemas.microsoft.com/office/drawing/2014/main" id="{8C5C2623-9F5A-84DD-80A1-81731E568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9878" y="2281777"/>
              <a:ext cx="581024" cy="384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627360D2-239B-A742-CDD0-26CCB008D76E}"/>
                </a:ext>
              </a:extLst>
            </p:cNvPr>
            <p:cNvSpPr txBox="1"/>
            <p:nvPr/>
          </p:nvSpPr>
          <p:spPr>
            <a:xfrm>
              <a:off x="5965774" y="2699176"/>
              <a:ext cx="85930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Graph DB</a:t>
              </a:r>
              <a:endParaRPr lang="en-US" sz="8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E640498-5334-B851-6029-F386490F47E1}"/>
              </a:ext>
            </a:extLst>
          </p:cNvPr>
          <p:cNvSpPr txBox="1"/>
          <p:nvPr/>
        </p:nvSpPr>
        <p:spPr>
          <a:xfrm>
            <a:off x="5610144" y="3557589"/>
            <a:ext cx="17566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00" dirty="0"/>
              <a:t>Review plan for up to n rounds until the plan is ready</a:t>
            </a:r>
            <a:endParaRPr lang="en-US" sz="5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E62610-9126-86C3-F94C-94FF7412B3D8}"/>
              </a:ext>
            </a:extLst>
          </p:cNvPr>
          <p:cNvSpPr txBox="1"/>
          <p:nvPr/>
        </p:nvSpPr>
        <p:spPr>
          <a:xfrm>
            <a:off x="4099321" y="1468696"/>
            <a:ext cx="63671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query topic</a:t>
            </a:r>
            <a:endParaRPr lang="en-US" sz="5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A7A984-8D2A-AA8C-3838-0AEE945D0B8A}"/>
              </a:ext>
            </a:extLst>
          </p:cNvPr>
          <p:cNvSpPr txBox="1"/>
          <p:nvPr/>
        </p:nvSpPr>
        <p:spPr>
          <a:xfrm>
            <a:off x="4099321" y="3034264"/>
            <a:ext cx="63671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query topic</a:t>
            </a:r>
            <a:endParaRPr lang="en-US" sz="5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2B4A18-9850-3341-C089-0144E62CA379}"/>
              </a:ext>
            </a:extLst>
          </p:cNvPr>
          <p:cNvSpPr txBox="1"/>
          <p:nvPr/>
        </p:nvSpPr>
        <p:spPr>
          <a:xfrm>
            <a:off x="4140699" y="4360273"/>
            <a:ext cx="4491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plan</a:t>
            </a:r>
            <a:endParaRPr lang="en-US" sz="5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ED00AC-A233-3F4B-2C0F-84304748CF5D}"/>
              </a:ext>
            </a:extLst>
          </p:cNvPr>
          <p:cNvSpPr txBox="1"/>
          <p:nvPr/>
        </p:nvSpPr>
        <p:spPr>
          <a:xfrm>
            <a:off x="5073259" y="4360273"/>
            <a:ext cx="15055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Expand upon plan to generate a research outline</a:t>
            </a:r>
            <a:endParaRPr lang="en-US" sz="50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36D43FC-DB36-A448-340B-416978DA09EF}"/>
              </a:ext>
            </a:extLst>
          </p:cNvPr>
          <p:cNvCxnSpPr/>
          <p:nvPr/>
        </p:nvCxnSpPr>
        <p:spPr>
          <a:xfrm>
            <a:off x="2877886" y="0"/>
            <a:ext cx="0" cy="5143500"/>
          </a:xfrm>
          <a:prstGeom prst="line">
            <a:avLst/>
          </a:prstGeom>
          <a:ln w="1905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4D86150-988B-616D-2FD1-20E02F0874FA}"/>
              </a:ext>
            </a:extLst>
          </p:cNvPr>
          <p:cNvSpPr txBox="1"/>
          <p:nvPr/>
        </p:nvSpPr>
        <p:spPr>
          <a:xfrm>
            <a:off x="2502698" y="-3672"/>
            <a:ext cx="3706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Offline</a:t>
            </a:r>
            <a:endParaRPr lang="en-US" sz="5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E5F795-2288-F98C-BBE8-93D1BBB5AF48}"/>
              </a:ext>
            </a:extLst>
          </p:cNvPr>
          <p:cNvSpPr txBox="1"/>
          <p:nvPr/>
        </p:nvSpPr>
        <p:spPr>
          <a:xfrm>
            <a:off x="2879394" y="-3672"/>
            <a:ext cx="367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Online</a:t>
            </a:r>
            <a:endParaRPr lang="en-US" sz="5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99325C6-C189-52AE-C733-39EB20082C1D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2213628" y="1039266"/>
            <a:ext cx="1" cy="326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EF37A40-87F6-EC98-2109-2CFBC5CC1112}"/>
              </a:ext>
            </a:extLst>
          </p:cNvPr>
          <p:cNvCxnSpPr>
            <a:cxnSpLocks/>
            <a:stCxn id="17" idx="2"/>
            <a:endCxn id="159" idx="0"/>
          </p:cNvCxnSpPr>
          <p:nvPr/>
        </p:nvCxnSpPr>
        <p:spPr>
          <a:xfrm flipH="1">
            <a:off x="2213628" y="1515822"/>
            <a:ext cx="1" cy="326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EBE7767-F926-5CBB-09F3-E89DF5E528AB}"/>
              </a:ext>
            </a:extLst>
          </p:cNvPr>
          <p:cNvSpPr txBox="1"/>
          <p:nvPr/>
        </p:nvSpPr>
        <p:spPr>
          <a:xfrm>
            <a:off x="1776063" y="1091850"/>
            <a:ext cx="3786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Embed</a:t>
            </a:r>
            <a:endParaRPr lang="en-US" sz="5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841F3B-5311-A610-0205-FAA8526BAE89}"/>
              </a:ext>
            </a:extLst>
          </p:cNvPr>
          <p:cNvSpPr txBox="1"/>
          <p:nvPr/>
        </p:nvSpPr>
        <p:spPr>
          <a:xfrm>
            <a:off x="1776063" y="1581381"/>
            <a:ext cx="33214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Store</a:t>
            </a:r>
            <a:endParaRPr lang="en-US" sz="5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F224195-F096-556F-9635-CDBE8DD96920}"/>
              </a:ext>
            </a:extLst>
          </p:cNvPr>
          <p:cNvGrpSpPr/>
          <p:nvPr/>
        </p:nvGrpSpPr>
        <p:grpSpPr>
          <a:xfrm>
            <a:off x="4699834" y="3937516"/>
            <a:ext cx="526106" cy="385283"/>
            <a:chOff x="6419017" y="1216316"/>
            <a:chExt cx="526106" cy="385283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7EB55DF-7EF8-1F14-1667-AD2596A7865B}"/>
                </a:ext>
              </a:extLst>
            </p:cNvPr>
            <p:cNvSpPr txBox="1"/>
            <p:nvPr/>
          </p:nvSpPr>
          <p:spPr>
            <a:xfrm>
              <a:off x="6419017" y="1386155"/>
              <a:ext cx="52610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Planner</a:t>
              </a:r>
              <a:endParaRPr lang="en-US" sz="80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14880ED-3EAF-7180-AB18-E88529DFE183}"/>
                </a:ext>
              </a:extLst>
            </p:cNvPr>
            <p:cNvSpPr/>
            <p:nvPr/>
          </p:nvSpPr>
          <p:spPr>
            <a:xfrm>
              <a:off x="6571847" y="121631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FB48BC6-22A9-C042-3EFE-E1D0A4902D21}"/>
              </a:ext>
            </a:extLst>
          </p:cNvPr>
          <p:cNvCxnSpPr>
            <a:cxnSpLocks/>
            <a:stCxn id="218" idx="2"/>
            <a:endCxn id="77" idx="0"/>
          </p:cNvCxnSpPr>
          <p:nvPr/>
        </p:nvCxnSpPr>
        <p:spPr>
          <a:xfrm>
            <a:off x="4962888" y="3780316"/>
            <a:ext cx="0" cy="1572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20A5FDEA-7F02-78CD-383A-BDCC0E0608CF}"/>
              </a:ext>
            </a:extLst>
          </p:cNvPr>
          <p:cNvCxnSpPr>
            <a:stCxn id="77" idx="6"/>
            <a:endCxn id="35" idx="5"/>
          </p:cNvCxnSpPr>
          <p:nvPr/>
        </p:nvCxnSpPr>
        <p:spPr>
          <a:xfrm flipH="1" flipV="1">
            <a:off x="5040827" y="3275605"/>
            <a:ext cx="32284" cy="772135"/>
          </a:xfrm>
          <a:prstGeom prst="bentConnector4">
            <a:avLst>
              <a:gd name="adj1" fmla="val -1701385"/>
              <a:gd name="adj2" fmla="val 998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L4">
            <a:extLst>
              <a:ext uri="{FF2B5EF4-FFF2-40B4-BE49-F238E27FC236}">
                <a16:creationId xmlns:a16="http://schemas.microsoft.com/office/drawing/2014/main" id="{439D731C-A5AF-D35B-0F70-CE2A4438B3B2}"/>
              </a:ext>
            </a:extLst>
          </p:cNvPr>
          <p:cNvSpPr/>
          <p:nvPr/>
        </p:nvSpPr>
        <p:spPr>
          <a:xfrm>
            <a:off x="3063098" y="1202348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Skill registry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9B7F6E35-2FD1-3D91-22A4-AB4F4AB3E79F}"/>
              </a:ext>
            </a:extLst>
          </p:cNvPr>
          <p:cNvCxnSpPr>
            <a:cxnSpLocks/>
            <a:stCxn id="89" idx="2"/>
            <a:endCxn id="115" idx="2"/>
          </p:cNvCxnSpPr>
          <p:nvPr/>
        </p:nvCxnSpPr>
        <p:spPr>
          <a:xfrm rot="16200000" flipH="1">
            <a:off x="3531066" y="1275231"/>
            <a:ext cx="287516" cy="4425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97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DB19-2319-AD11-F6B5-385F6BFE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D8AEB-42B0-8960-1379-EFFA5DABBE4A}"/>
              </a:ext>
            </a:extLst>
          </p:cNvPr>
          <p:cNvSpPr txBox="1"/>
          <p:nvPr/>
        </p:nvSpPr>
        <p:spPr>
          <a:xfrm>
            <a:off x="0" y="0"/>
            <a:ext cx="20906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迭代过程</a:t>
            </a:r>
            <a:r>
              <a:rPr lang="en-US" altLang="zh-CN" sz="1000" dirty="0"/>
              <a:t> – </a:t>
            </a:r>
            <a:r>
              <a:rPr lang="zh-CN" altLang="en-US" sz="1000" dirty="0"/>
              <a:t>（二）方法论技能增强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5928F-C812-0DDE-2796-0698FE42AAB8}"/>
              </a:ext>
            </a:extLst>
          </p:cNvPr>
          <p:cNvSpPr txBox="1"/>
          <p:nvPr/>
        </p:nvSpPr>
        <p:spPr>
          <a:xfrm>
            <a:off x="1776063" y="647843"/>
            <a:ext cx="3658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Chunk</a:t>
            </a:r>
            <a:endParaRPr lang="en-US" sz="5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5C2099-7C00-4E92-F7C2-115E05F83361}"/>
              </a:ext>
            </a:extLst>
          </p:cNvPr>
          <p:cNvCxnSpPr>
            <a:cxnSpLocks/>
          </p:cNvCxnSpPr>
          <p:nvPr/>
        </p:nvCxnSpPr>
        <p:spPr>
          <a:xfrm>
            <a:off x="2213628" y="562710"/>
            <a:ext cx="0" cy="378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4">
            <a:extLst>
              <a:ext uri="{FF2B5EF4-FFF2-40B4-BE49-F238E27FC236}">
                <a16:creationId xmlns:a16="http://schemas.microsoft.com/office/drawing/2014/main" id="{EE9D43FC-4394-CFB0-B474-6455AA7F922B}"/>
              </a:ext>
            </a:extLst>
          </p:cNvPr>
          <p:cNvSpPr/>
          <p:nvPr/>
        </p:nvSpPr>
        <p:spPr>
          <a:xfrm>
            <a:off x="1823168" y="412319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Local corpus</a:t>
            </a:r>
          </a:p>
        </p:txBody>
      </p:sp>
      <p:sp>
        <p:nvSpPr>
          <p:cNvPr id="7" name="L4">
            <a:extLst>
              <a:ext uri="{FF2B5EF4-FFF2-40B4-BE49-F238E27FC236}">
                <a16:creationId xmlns:a16="http://schemas.microsoft.com/office/drawing/2014/main" id="{DB6F9BB5-BC22-8330-DAD6-17A943302C43}"/>
              </a:ext>
            </a:extLst>
          </p:cNvPr>
          <p:cNvSpPr/>
          <p:nvPr/>
        </p:nvSpPr>
        <p:spPr>
          <a:xfrm>
            <a:off x="1923116" y="888875"/>
            <a:ext cx="581024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Chunks</a:t>
            </a:r>
            <a:endParaRPr lang="en-US" sz="800" dirty="0"/>
          </a:p>
        </p:txBody>
      </p:sp>
      <p:sp>
        <p:nvSpPr>
          <p:cNvPr id="8" name="L4">
            <a:extLst>
              <a:ext uri="{FF2B5EF4-FFF2-40B4-BE49-F238E27FC236}">
                <a16:creationId xmlns:a16="http://schemas.microsoft.com/office/drawing/2014/main" id="{EEE7737D-2AA6-1C14-E63E-A2DC24020063}"/>
              </a:ext>
            </a:extLst>
          </p:cNvPr>
          <p:cNvSpPr/>
          <p:nvPr/>
        </p:nvSpPr>
        <p:spPr>
          <a:xfrm>
            <a:off x="1823168" y="1365431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Embeddings 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0B493-F5DB-7F0C-F1E6-E0FC16EE2305}"/>
              </a:ext>
            </a:extLst>
          </p:cNvPr>
          <p:cNvSpPr txBox="1"/>
          <p:nvPr/>
        </p:nvSpPr>
        <p:spPr>
          <a:xfrm>
            <a:off x="5323113" y="4952633"/>
            <a:ext cx="5469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" dirty="0"/>
              <a:t>Outliner</a:t>
            </a:r>
            <a:endParaRPr lang="en-US" sz="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3EB943-D9D7-495E-D3A7-7404BA7E1B7F}"/>
              </a:ext>
            </a:extLst>
          </p:cNvPr>
          <p:cNvSpPr/>
          <p:nvPr/>
        </p:nvSpPr>
        <p:spPr>
          <a:xfrm>
            <a:off x="5486362" y="4968307"/>
            <a:ext cx="220447" cy="2204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BDEE75-D184-7545-B0BA-DC980BBA5BF9}"/>
              </a:ext>
            </a:extLst>
          </p:cNvPr>
          <p:cNvGrpSpPr/>
          <p:nvPr/>
        </p:nvGrpSpPr>
        <p:grpSpPr>
          <a:xfrm>
            <a:off x="5272112" y="2055590"/>
            <a:ext cx="632500" cy="409219"/>
            <a:chOff x="4235975" y="1530031"/>
            <a:chExt cx="632500" cy="40921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E18D7B-0A5F-0AA8-6A1A-28BB8974260E}"/>
                </a:ext>
              </a:extLst>
            </p:cNvPr>
            <p:cNvSpPr txBox="1"/>
            <p:nvPr/>
          </p:nvSpPr>
          <p:spPr>
            <a:xfrm>
              <a:off x="4235975" y="1723806"/>
              <a:ext cx="6325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Retriever</a:t>
              </a:r>
              <a:endParaRPr lang="en-US" sz="80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42AA293-109D-4753-2841-1FE4AEFF886A}"/>
                </a:ext>
              </a:extLst>
            </p:cNvPr>
            <p:cNvSpPr/>
            <p:nvPr/>
          </p:nvSpPr>
          <p:spPr>
            <a:xfrm>
              <a:off x="4442002" y="1530031"/>
              <a:ext cx="220447" cy="2204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L4">
            <a:extLst>
              <a:ext uri="{FF2B5EF4-FFF2-40B4-BE49-F238E27FC236}">
                <a16:creationId xmlns:a16="http://schemas.microsoft.com/office/drawing/2014/main" id="{BBB385DA-93C6-FB88-609D-0C0A98349BB5}"/>
              </a:ext>
            </a:extLst>
          </p:cNvPr>
          <p:cNvSpPr/>
          <p:nvPr/>
        </p:nvSpPr>
        <p:spPr>
          <a:xfrm>
            <a:off x="7293132" y="5003335"/>
            <a:ext cx="924964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CA" sz="800" dirty="0"/>
              <a:t>O</a:t>
            </a:r>
            <a:r>
              <a:rPr lang="en-US" sz="800" dirty="0" err="1"/>
              <a:t>utline</a:t>
            </a:r>
            <a:r>
              <a:rPr lang="en-US" sz="800" dirty="0"/>
              <a:t> Artifact</a:t>
            </a:r>
          </a:p>
        </p:txBody>
      </p:sp>
      <p:sp>
        <p:nvSpPr>
          <p:cNvPr id="19" name="L4">
            <a:extLst>
              <a:ext uri="{FF2B5EF4-FFF2-40B4-BE49-F238E27FC236}">
                <a16:creationId xmlns:a16="http://schemas.microsoft.com/office/drawing/2014/main" id="{82254906-B33B-5F9A-6140-286BAAEB3C82}"/>
              </a:ext>
            </a:extLst>
          </p:cNvPr>
          <p:cNvSpPr/>
          <p:nvPr/>
        </p:nvSpPr>
        <p:spPr>
          <a:xfrm>
            <a:off x="4225187" y="76268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Query topic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0D2854-BC59-E6F9-82E9-C1D503E2C218}"/>
              </a:ext>
            </a:extLst>
          </p:cNvPr>
          <p:cNvGrpSpPr/>
          <p:nvPr/>
        </p:nvGrpSpPr>
        <p:grpSpPr>
          <a:xfrm>
            <a:off x="7235098" y="1753696"/>
            <a:ext cx="652784" cy="816644"/>
            <a:chOff x="5897142" y="1313862"/>
            <a:chExt cx="652784" cy="816644"/>
          </a:xfrm>
        </p:grpSpPr>
        <p:pic>
          <p:nvPicPr>
            <p:cNvPr id="21" name="Graphic 20" descr="Social network outline">
              <a:extLst>
                <a:ext uri="{FF2B5EF4-FFF2-40B4-BE49-F238E27FC236}">
                  <a16:creationId xmlns:a16="http://schemas.microsoft.com/office/drawing/2014/main" id="{A21827E8-E125-34AE-B150-D95ED7CF6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97142" y="1313862"/>
              <a:ext cx="652784" cy="65278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A654F5-549B-BA4C-C830-B6E75D2E73FB}"/>
                </a:ext>
              </a:extLst>
            </p:cNvPr>
            <p:cNvSpPr txBox="1"/>
            <p:nvPr/>
          </p:nvSpPr>
          <p:spPr>
            <a:xfrm>
              <a:off x="6029410" y="1915062"/>
              <a:ext cx="3882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800" dirty="0"/>
                <a:t>Web</a:t>
              </a:r>
              <a:endParaRPr lang="en-US" sz="800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4EB435B9-E6C4-EAFB-DB76-2AA4ECB900E2}"/>
              </a:ext>
            </a:extLst>
          </p:cNvPr>
          <p:cNvSpPr/>
          <p:nvPr/>
        </p:nvSpPr>
        <p:spPr>
          <a:xfrm>
            <a:off x="4505424" y="2055590"/>
            <a:ext cx="220447" cy="220447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6D4ECA-B297-779A-133C-075DA8366D03}"/>
              </a:ext>
            </a:extLst>
          </p:cNvPr>
          <p:cNvGrpSpPr/>
          <p:nvPr/>
        </p:nvGrpSpPr>
        <p:grpSpPr>
          <a:xfrm>
            <a:off x="1907294" y="1841986"/>
            <a:ext cx="612668" cy="567377"/>
            <a:chOff x="3104987" y="1358782"/>
            <a:chExt cx="612668" cy="567377"/>
          </a:xfrm>
        </p:grpSpPr>
        <p:pic>
          <p:nvPicPr>
            <p:cNvPr id="25" name="Picture 2" descr="Database - Free technology icons">
              <a:extLst>
                <a:ext uri="{FF2B5EF4-FFF2-40B4-BE49-F238E27FC236}">
                  <a16:creationId xmlns:a16="http://schemas.microsoft.com/office/drawing/2014/main" id="{5DC5A9C4-D717-9474-5679-0A56CB7458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809" y="1358782"/>
              <a:ext cx="581024" cy="384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776604-6BA6-7C12-1CC9-026EFE5DD36E}"/>
                </a:ext>
              </a:extLst>
            </p:cNvPr>
            <p:cNvSpPr txBox="1"/>
            <p:nvPr/>
          </p:nvSpPr>
          <p:spPr>
            <a:xfrm>
              <a:off x="3104987" y="1710715"/>
              <a:ext cx="6126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800" dirty="0"/>
                <a:t>Graph DB</a:t>
              </a:r>
              <a:endParaRPr lang="en-US" sz="8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51758D-8B9E-B9B0-95B4-D78389AD901A}"/>
              </a:ext>
            </a:extLst>
          </p:cNvPr>
          <p:cNvGrpSpPr/>
          <p:nvPr/>
        </p:nvGrpSpPr>
        <p:grpSpPr>
          <a:xfrm>
            <a:off x="6281781" y="1580997"/>
            <a:ext cx="1108710" cy="385283"/>
            <a:chOff x="6127715" y="1216316"/>
            <a:chExt cx="1108710" cy="38528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F45DCE-63BF-FC93-7246-79DAF794E54F}"/>
                </a:ext>
              </a:extLst>
            </p:cNvPr>
            <p:cNvSpPr txBox="1"/>
            <p:nvPr/>
          </p:nvSpPr>
          <p:spPr>
            <a:xfrm>
              <a:off x="6127715" y="1386155"/>
              <a:ext cx="11087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Query Expander</a:t>
              </a:r>
              <a:endParaRPr lang="en-US" sz="8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E88F40E-58EE-F1AD-C256-9AD3C551674E}"/>
                </a:ext>
              </a:extLst>
            </p:cNvPr>
            <p:cNvSpPr/>
            <p:nvPr/>
          </p:nvSpPr>
          <p:spPr>
            <a:xfrm>
              <a:off x="6571847" y="121631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61FD63-6334-FF26-5550-1E54F042194A}"/>
              </a:ext>
            </a:extLst>
          </p:cNvPr>
          <p:cNvCxnSpPr>
            <a:cxnSpLocks/>
            <a:stCxn id="19" idx="2"/>
            <a:endCxn id="78" idx="0"/>
          </p:cNvCxnSpPr>
          <p:nvPr/>
        </p:nvCxnSpPr>
        <p:spPr>
          <a:xfrm>
            <a:off x="4615648" y="226659"/>
            <a:ext cx="0" cy="174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38A287F-1462-3C9E-0DC5-0901DA659E7A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5698586" y="2165813"/>
            <a:ext cx="15365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DEC0BE-38EC-74AC-A57C-E593D36EB826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7561490" y="2656065"/>
            <a:ext cx="0" cy="2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612131-B597-6E85-405A-5D7D1D5A509C}"/>
              </a:ext>
            </a:extLst>
          </p:cNvPr>
          <p:cNvSpPr txBox="1"/>
          <p:nvPr/>
        </p:nvSpPr>
        <p:spPr>
          <a:xfrm>
            <a:off x="5020944" y="3182576"/>
            <a:ext cx="628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 err="1"/>
              <a:t>Clusterer</a:t>
            </a:r>
            <a:endParaRPr lang="en-US" sz="8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17918CA-7421-27E4-46AD-E4BD40AC5C2A}"/>
              </a:ext>
            </a:extLst>
          </p:cNvPr>
          <p:cNvSpPr/>
          <p:nvPr/>
        </p:nvSpPr>
        <p:spPr>
          <a:xfrm>
            <a:off x="5225053" y="2993975"/>
            <a:ext cx="220447" cy="2204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D57D5E-0930-CF6C-3568-9C142B8034D0}"/>
              </a:ext>
            </a:extLst>
          </p:cNvPr>
          <p:cNvCxnSpPr>
            <a:cxnSpLocks/>
            <a:stCxn id="34" idx="6"/>
            <a:endCxn id="55" idx="1"/>
          </p:cNvCxnSpPr>
          <p:nvPr/>
        </p:nvCxnSpPr>
        <p:spPr>
          <a:xfrm>
            <a:off x="5445500" y="3104199"/>
            <a:ext cx="182547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6F9F42-7B03-007B-18CF-1BD686B8FB8A}"/>
              </a:ext>
            </a:extLst>
          </p:cNvPr>
          <p:cNvSpPr txBox="1"/>
          <p:nvPr/>
        </p:nvSpPr>
        <p:spPr>
          <a:xfrm>
            <a:off x="4739695" y="1527819"/>
            <a:ext cx="178927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Expand query + return expanded query pool to orchestrator</a:t>
            </a:r>
            <a:endParaRPr lang="en-US" sz="500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C8E70F1-E8E7-CE93-5801-90D5D4E831D8}"/>
              </a:ext>
            </a:extLst>
          </p:cNvPr>
          <p:cNvCxnSpPr>
            <a:stCxn id="23" idx="7"/>
            <a:endCxn id="29" idx="2"/>
          </p:cNvCxnSpPr>
          <p:nvPr/>
        </p:nvCxnSpPr>
        <p:spPr>
          <a:xfrm rot="5400000" flipH="1" flipV="1">
            <a:off x="5511424" y="873385"/>
            <a:ext cx="396653" cy="203232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9A50115-4381-F722-11E5-37451299702F}"/>
              </a:ext>
            </a:extLst>
          </p:cNvPr>
          <p:cNvCxnSpPr>
            <a:stCxn id="23" idx="6"/>
            <a:endCxn id="17" idx="2"/>
          </p:cNvCxnSpPr>
          <p:nvPr/>
        </p:nvCxnSpPr>
        <p:spPr>
          <a:xfrm>
            <a:off x="4725871" y="2165814"/>
            <a:ext cx="7522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F6045FA-F9CD-0C20-F810-644DB1AD5715}"/>
              </a:ext>
            </a:extLst>
          </p:cNvPr>
          <p:cNvCxnSpPr>
            <a:stCxn id="23" idx="5"/>
            <a:endCxn id="34" idx="2"/>
          </p:cNvCxnSpPr>
          <p:nvPr/>
        </p:nvCxnSpPr>
        <p:spPr>
          <a:xfrm rot="16200000" flipH="1">
            <a:off x="4529097" y="2408243"/>
            <a:ext cx="860446" cy="5314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F5596DE-2526-C55F-B05B-8B6091C7AAAE}"/>
              </a:ext>
            </a:extLst>
          </p:cNvPr>
          <p:cNvCxnSpPr>
            <a:stCxn id="23" idx="4"/>
            <a:endCxn id="11" idx="2"/>
          </p:cNvCxnSpPr>
          <p:nvPr/>
        </p:nvCxnSpPr>
        <p:spPr>
          <a:xfrm rot="16200000" flipH="1">
            <a:off x="4323299" y="2568385"/>
            <a:ext cx="1447188" cy="862491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481AE93-EA80-3959-3AE4-49F4317472B4}"/>
              </a:ext>
            </a:extLst>
          </p:cNvPr>
          <p:cNvCxnSpPr>
            <a:cxnSpLocks/>
            <a:stCxn id="56" idx="2"/>
            <a:endCxn id="11" idx="6"/>
          </p:cNvCxnSpPr>
          <p:nvPr/>
        </p:nvCxnSpPr>
        <p:spPr>
          <a:xfrm rot="5400000">
            <a:off x="6548421" y="2695119"/>
            <a:ext cx="178271" cy="1877940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30B4120-ABF8-B8EC-CA09-ED329D7607E6}"/>
              </a:ext>
            </a:extLst>
          </p:cNvPr>
          <p:cNvCxnSpPr>
            <a:cxnSpLocks/>
            <a:stCxn id="14" idx="6"/>
            <a:endCxn id="18" idx="1"/>
          </p:cNvCxnSpPr>
          <p:nvPr/>
        </p:nvCxnSpPr>
        <p:spPr>
          <a:xfrm>
            <a:off x="5706809" y="5078531"/>
            <a:ext cx="15863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26E0503-C4C2-8CCA-516E-A068AF6019FC}"/>
              </a:ext>
            </a:extLst>
          </p:cNvPr>
          <p:cNvCxnSpPr>
            <a:cxnSpLocks/>
            <a:stCxn id="23" idx="3"/>
            <a:endCxn id="14" idx="2"/>
          </p:cNvCxnSpPr>
          <p:nvPr/>
        </p:nvCxnSpPr>
        <p:spPr>
          <a:xfrm rot="16200000" flipH="1">
            <a:off x="3594646" y="3186815"/>
            <a:ext cx="2834778" cy="948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DCC9655-C750-BB52-8EBB-D3C14B04642B}"/>
              </a:ext>
            </a:extLst>
          </p:cNvPr>
          <p:cNvSpPr txBox="1"/>
          <p:nvPr/>
        </p:nvSpPr>
        <p:spPr>
          <a:xfrm>
            <a:off x="4267212" y="2374229"/>
            <a:ext cx="75373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A" sz="800" dirty="0"/>
              <a:t>Orchestrator</a:t>
            </a:r>
            <a:endParaRPr lang="en-US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40F402-BB9E-59BE-8F3C-05561ECC3882}"/>
              </a:ext>
            </a:extLst>
          </p:cNvPr>
          <p:cNvSpPr txBox="1"/>
          <p:nvPr/>
        </p:nvSpPr>
        <p:spPr>
          <a:xfrm>
            <a:off x="5940034" y="1994255"/>
            <a:ext cx="99418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Search with expanded query</a:t>
            </a:r>
            <a:endParaRPr lang="en-US" sz="5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C5D69C-0E6F-8E00-8FFA-42F811ED376C}"/>
              </a:ext>
            </a:extLst>
          </p:cNvPr>
          <p:cNvSpPr txBox="1"/>
          <p:nvPr/>
        </p:nvSpPr>
        <p:spPr>
          <a:xfrm>
            <a:off x="7576526" y="2656942"/>
            <a:ext cx="10454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Stores chunks and embeddings</a:t>
            </a:r>
            <a:endParaRPr lang="en-US" sz="5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1C30C3-73F2-59AC-647C-4B563668B3B7}"/>
              </a:ext>
            </a:extLst>
          </p:cNvPr>
          <p:cNvSpPr txBox="1"/>
          <p:nvPr/>
        </p:nvSpPr>
        <p:spPr>
          <a:xfrm>
            <a:off x="5403084" y="2934922"/>
            <a:ext cx="89639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Cluster document chunks</a:t>
            </a:r>
            <a:endParaRPr lang="en-US" sz="5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DB5A42-3D5E-BD46-4AD2-A2379D6646C3}"/>
              </a:ext>
            </a:extLst>
          </p:cNvPr>
          <p:cNvSpPr txBox="1"/>
          <p:nvPr/>
        </p:nvSpPr>
        <p:spPr>
          <a:xfrm>
            <a:off x="5698586" y="3488371"/>
            <a:ext cx="1756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00" dirty="0"/>
              <a:t>Use top k chunks from the top j clusters of highest vector similarity with query topic + return plan to orchestrator</a:t>
            </a:r>
            <a:endParaRPr lang="en-US" sz="5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990807-E198-128B-00DF-6E39808FAE86}"/>
              </a:ext>
            </a:extLst>
          </p:cNvPr>
          <p:cNvSpPr txBox="1"/>
          <p:nvPr/>
        </p:nvSpPr>
        <p:spPr>
          <a:xfrm>
            <a:off x="5870058" y="3182467"/>
            <a:ext cx="966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Cluster </a:t>
            </a:r>
            <a:r>
              <a:rPr lang="en-US" sz="800" dirty="0" err="1"/>
              <a:t>Labeller</a:t>
            </a:r>
            <a:endParaRPr lang="en-US" sz="8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3E3136F-C1D1-E9F0-2071-BA3F0797E25B}"/>
              </a:ext>
            </a:extLst>
          </p:cNvPr>
          <p:cNvSpPr/>
          <p:nvPr/>
        </p:nvSpPr>
        <p:spPr>
          <a:xfrm>
            <a:off x="6242874" y="2993866"/>
            <a:ext cx="220447" cy="2204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83EE5F-6458-3D27-ACD5-BF09401E081B}"/>
              </a:ext>
            </a:extLst>
          </p:cNvPr>
          <p:cNvSpPr txBox="1"/>
          <p:nvPr/>
        </p:nvSpPr>
        <p:spPr>
          <a:xfrm>
            <a:off x="6514096" y="2934922"/>
            <a:ext cx="59984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Labels clusters</a:t>
            </a:r>
            <a:endParaRPr lang="en-US" sz="5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544E8A-ABFE-0B8F-E443-2F0DCAA17183}"/>
              </a:ext>
            </a:extLst>
          </p:cNvPr>
          <p:cNvGrpSpPr/>
          <p:nvPr/>
        </p:nvGrpSpPr>
        <p:grpSpPr>
          <a:xfrm>
            <a:off x="7146874" y="2912111"/>
            <a:ext cx="859304" cy="632843"/>
            <a:chOff x="5965774" y="2281777"/>
            <a:chExt cx="859304" cy="632843"/>
          </a:xfrm>
        </p:grpSpPr>
        <p:pic>
          <p:nvPicPr>
            <p:cNvPr id="55" name="Picture 2" descr="Database - Free technology icons">
              <a:extLst>
                <a:ext uri="{FF2B5EF4-FFF2-40B4-BE49-F238E27FC236}">
                  <a16:creationId xmlns:a16="http://schemas.microsoft.com/office/drawing/2014/main" id="{F6EF8CE1-5527-F17C-FE2C-867C6896C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9878" y="2281777"/>
              <a:ext cx="581024" cy="384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E93BA1E-2CBD-B3AC-0489-C2110437AD70}"/>
                </a:ext>
              </a:extLst>
            </p:cNvPr>
            <p:cNvSpPr txBox="1"/>
            <p:nvPr/>
          </p:nvSpPr>
          <p:spPr>
            <a:xfrm>
              <a:off x="5965774" y="2699176"/>
              <a:ext cx="85930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Graph DB</a:t>
              </a:r>
              <a:endParaRPr lang="en-US" sz="800" dirty="0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9FBC009-29E8-E1C7-3C43-3379882D8024}"/>
              </a:ext>
            </a:extLst>
          </p:cNvPr>
          <p:cNvSpPr txBox="1"/>
          <p:nvPr/>
        </p:nvSpPr>
        <p:spPr>
          <a:xfrm>
            <a:off x="6235619" y="4083148"/>
            <a:ext cx="17566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00" dirty="0"/>
              <a:t>Review plan for up to n rounds until the plan is ready</a:t>
            </a:r>
            <a:endParaRPr lang="en-US" sz="5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F73E54-1F82-E8ED-FC73-CA1E06070B4F}"/>
              </a:ext>
            </a:extLst>
          </p:cNvPr>
          <p:cNvSpPr txBox="1"/>
          <p:nvPr/>
        </p:nvSpPr>
        <p:spPr>
          <a:xfrm>
            <a:off x="4724796" y="1994255"/>
            <a:ext cx="63671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query topic</a:t>
            </a:r>
            <a:endParaRPr lang="en-US" sz="5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C6D48C-952F-A8BD-0A1D-05C050E4E91F}"/>
              </a:ext>
            </a:extLst>
          </p:cNvPr>
          <p:cNvSpPr txBox="1"/>
          <p:nvPr/>
        </p:nvSpPr>
        <p:spPr>
          <a:xfrm>
            <a:off x="4724796" y="3559823"/>
            <a:ext cx="63671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query topic</a:t>
            </a:r>
            <a:endParaRPr lang="en-US" sz="5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742FD1-E84F-173D-F04A-7DF71A0EDEC0}"/>
              </a:ext>
            </a:extLst>
          </p:cNvPr>
          <p:cNvSpPr txBox="1"/>
          <p:nvPr/>
        </p:nvSpPr>
        <p:spPr>
          <a:xfrm>
            <a:off x="4766174" y="4885832"/>
            <a:ext cx="4491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Pass plan</a:t>
            </a:r>
            <a:endParaRPr lang="en-US" sz="5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525B01-E6F5-C889-1C19-874FBBF86DF9}"/>
              </a:ext>
            </a:extLst>
          </p:cNvPr>
          <p:cNvSpPr txBox="1"/>
          <p:nvPr/>
        </p:nvSpPr>
        <p:spPr>
          <a:xfrm>
            <a:off x="5698734" y="4885832"/>
            <a:ext cx="15055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Expand upon plan to generate a research outline</a:t>
            </a:r>
            <a:endParaRPr lang="en-US" sz="50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DD97226-1777-B09A-4E49-58193E12C094}"/>
              </a:ext>
            </a:extLst>
          </p:cNvPr>
          <p:cNvCxnSpPr/>
          <p:nvPr/>
        </p:nvCxnSpPr>
        <p:spPr>
          <a:xfrm>
            <a:off x="2877886" y="0"/>
            <a:ext cx="0" cy="5143500"/>
          </a:xfrm>
          <a:prstGeom prst="line">
            <a:avLst/>
          </a:prstGeom>
          <a:ln w="1905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B8A1482-424F-0C28-CB0C-89BE0FE8E5BD}"/>
              </a:ext>
            </a:extLst>
          </p:cNvPr>
          <p:cNvSpPr txBox="1"/>
          <p:nvPr/>
        </p:nvSpPr>
        <p:spPr>
          <a:xfrm>
            <a:off x="2502698" y="-3672"/>
            <a:ext cx="3706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Offline</a:t>
            </a:r>
            <a:endParaRPr lang="en-US" sz="5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67B873-269A-E30E-5CDB-262CD96414DD}"/>
              </a:ext>
            </a:extLst>
          </p:cNvPr>
          <p:cNvSpPr txBox="1"/>
          <p:nvPr/>
        </p:nvSpPr>
        <p:spPr>
          <a:xfrm>
            <a:off x="2879394" y="-3672"/>
            <a:ext cx="367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Online</a:t>
            </a:r>
            <a:endParaRPr lang="en-US" sz="5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D92AA2C-BDA0-F7E4-DD65-12D2FE16427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213628" y="1039266"/>
            <a:ext cx="1" cy="326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80FBCAC-FD5C-7058-AD0E-857E9015E232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2213628" y="1515822"/>
            <a:ext cx="1" cy="326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B0DA711-390D-4941-CF43-4811BF762F93}"/>
              </a:ext>
            </a:extLst>
          </p:cNvPr>
          <p:cNvSpPr txBox="1"/>
          <p:nvPr/>
        </p:nvSpPr>
        <p:spPr>
          <a:xfrm>
            <a:off x="1776063" y="1091850"/>
            <a:ext cx="3786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Embed</a:t>
            </a:r>
            <a:endParaRPr lang="en-US" sz="5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F1E2A3-1749-94FA-5D66-39BFA568F1DA}"/>
              </a:ext>
            </a:extLst>
          </p:cNvPr>
          <p:cNvSpPr txBox="1"/>
          <p:nvPr/>
        </p:nvSpPr>
        <p:spPr>
          <a:xfrm>
            <a:off x="1776063" y="1581381"/>
            <a:ext cx="33214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00" dirty="0"/>
              <a:t>Store</a:t>
            </a:r>
            <a:endParaRPr lang="en-US" sz="500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3489A76-E3FD-4FC6-3DAF-D6FF2EF64176}"/>
              </a:ext>
            </a:extLst>
          </p:cNvPr>
          <p:cNvGrpSpPr/>
          <p:nvPr/>
        </p:nvGrpSpPr>
        <p:grpSpPr>
          <a:xfrm>
            <a:off x="5197902" y="3613001"/>
            <a:ext cx="780921" cy="1235357"/>
            <a:chOff x="5197902" y="3312867"/>
            <a:chExt cx="780921" cy="123535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810B6D-EA6B-2FFB-2828-0E1556CD3BC8}"/>
                </a:ext>
              </a:extLst>
            </p:cNvPr>
            <p:cNvGrpSpPr/>
            <p:nvPr/>
          </p:nvGrpSpPr>
          <p:grpSpPr>
            <a:xfrm>
              <a:off x="5325309" y="3312867"/>
              <a:ext cx="526106" cy="385283"/>
              <a:chOff x="6419017" y="1216316"/>
              <a:chExt cx="526106" cy="38528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2CF8E1-B845-AC67-7076-F21FD61866F2}"/>
                  </a:ext>
                </a:extLst>
              </p:cNvPr>
              <p:cNvSpPr txBox="1"/>
              <p:nvPr/>
            </p:nvSpPr>
            <p:spPr>
              <a:xfrm>
                <a:off x="6419017" y="1386155"/>
                <a:ext cx="5261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Planner</a:t>
                </a:r>
                <a:endParaRPr lang="en-US" sz="8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93535AB-7B00-D341-D4C9-48378B3F6EAC}"/>
                  </a:ext>
                </a:extLst>
              </p:cNvPr>
              <p:cNvSpPr/>
              <p:nvPr/>
            </p:nvSpPr>
            <p:spPr>
              <a:xfrm>
                <a:off x="6571847" y="1216316"/>
                <a:ext cx="220447" cy="22044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6" name="L4">
              <a:extLst>
                <a:ext uri="{FF2B5EF4-FFF2-40B4-BE49-F238E27FC236}">
                  <a16:creationId xmlns:a16="http://schemas.microsoft.com/office/drawing/2014/main" id="{7D99658F-3087-8BBE-71B0-E07F09584CE9}"/>
                </a:ext>
              </a:extLst>
            </p:cNvPr>
            <p:cNvSpPr/>
            <p:nvPr/>
          </p:nvSpPr>
          <p:spPr>
            <a:xfrm>
              <a:off x="5197902" y="3855350"/>
              <a:ext cx="780921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US" sz="800" dirty="0"/>
                <a:t>Plan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A5D31DB-FA6E-20EA-559C-BE12D37D7107}"/>
                </a:ext>
              </a:extLst>
            </p:cNvPr>
            <p:cNvCxnSpPr>
              <a:cxnSpLocks/>
              <a:stCxn id="10" idx="2"/>
              <a:endCxn id="36" idx="0"/>
            </p:cNvCxnSpPr>
            <p:nvPr/>
          </p:nvCxnSpPr>
          <p:spPr>
            <a:xfrm>
              <a:off x="5588362" y="3698150"/>
              <a:ext cx="1" cy="1572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737E70A-1325-5FB9-810C-B790660800AE}"/>
                </a:ext>
              </a:extLst>
            </p:cNvPr>
            <p:cNvGrpSpPr/>
            <p:nvPr/>
          </p:nvGrpSpPr>
          <p:grpSpPr>
            <a:xfrm>
              <a:off x="5325309" y="4162941"/>
              <a:ext cx="526106" cy="385283"/>
              <a:chOff x="6419017" y="1216316"/>
              <a:chExt cx="526106" cy="385283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C88579A-1221-8A8D-DCF1-1AE43344038F}"/>
                  </a:ext>
                </a:extLst>
              </p:cNvPr>
              <p:cNvSpPr txBox="1"/>
              <p:nvPr/>
            </p:nvSpPr>
            <p:spPr>
              <a:xfrm>
                <a:off x="6419017" y="1386155"/>
                <a:ext cx="5261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Planner</a:t>
                </a:r>
                <a:endParaRPr lang="en-US" sz="800" dirty="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5CE39A4-5187-755E-1E46-A656A560D455}"/>
                  </a:ext>
                </a:extLst>
              </p:cNvPr>
              <p:cNvSpPr/>
              <p:nvPr/>
            </p:nvSpPr>
            <p:spPr>
              <a:xfrm>
                <a:off x="6571847" y="1216316"/>
                <a:ext cx="220447" cy="22044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637E6E9-0934-A23C-589A-504640BF6B1E}"/>
                </a:ext>
              </a:extLst>
            </p:cNvPr>
            <p:cNvCxnSpPr>
              <a:cxnSpLocks/>
              <a:stCxn id="36" idx="2"/>
              <a:endCxn id="71" idx="0"/>
            </p:cNvCxnSpPr>
            <p:nvPr/>
          </p:nvCxnSpPr>
          <p:spPr>
            <a:xfrm>
              <a:off x="5588363" y="4005741"/>
              <a:ext cx="0" cy="1572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A1B6DF3B-DB0B-7FF2-3FE9-62DACD5750C6}"/>
                </a:ext>
              </a:extLst>
            </p:cNvPr>
            <p:cNvCxnSpPr>
              <a:stCxn id="71" idx="6"/>
              <a:endCxn id="11" idx="5"/>
            </p:cNvCxnSpPr>
            <p:nvPr/>
          </p:nvCxnSpPr>
          <p:spPr>
            <a:xfrm flipH="1" flipV="1">
              <a:off x="5666302" y="3501030"/>
              <a:ext cx="32284" cy="772135"/>
            </a:xfrm>
            <a:prstGeom prst="bentConnector4">
              <a:avLst>
                <a:gd name="adj1" fmla="val -1701385"/>
                <a:gd name="adj2" fmla="val 9986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L4">
            <a:extLst>
              <a:ext uri="{FF2B5EF4-FFF2-40B4-BE49-F238E27FC236}">
                <a16:creationId xmlns:a16="http://schemas.microsoft.com/office/drawing/2014/main" id="{87C9A3A4-52AF-06D9-7C6B-71F4D44BF2DD}"/>
              </a:ext>
            </a:extLst>
          </p:cNvPr>
          <p:cNvSpPr/>
          <p:nvPr/>
        </p:nvSpPr>
        <p:spPr>
          <a:xfrm>
            <a:off x="3207500" y="2093361"/>
            <a:ext cx="780921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Skill registry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43C43F8-6453-8866-CE64-BF16C1C501DF}"/>
              </a:ext>
            </a:extLst>
          </p:cNvPr>
          <p:cNvGrpSpPr/>
          <p:nvPr/>
        </p:nvGrpSpPr>
        <p:grpSpPr>
          <a:xfrm>
            <a:off x="4061292" y="401393"/>
            <a:ext cx="1108710" cy="385283"/>
            <a:chOff x="6127715" y="1216316"/>
            <a:chExt cx="1108710" cy="385283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9035661-7181-CA8F-445D-E63A76AD651C}"/>
                </a:ext>
              </a:extLst>
            </p:cNvPr>
            <p:cNvSpPr txBox="1"/>
            <p:nvPr/>
          </p:nvSpPr>
          <p:spPr>
            <a:xfrm>
              <a:off x="6127715" y="1386155"/>
              <a:ext cx="11087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800" dirty="0"/>
                <a:t>Query </a:t>
              </a:r>
              <a:r>
                <a:rPr lang="en-US" altLang="zh-CN" sz="800" dirty="0"/>
                <a:t>Decomposer</a:t>
              </a:r>
              <a:endParaRPr lang="en-US" sz="80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4FF3CB4-738A-872A-EFE8-5C760BE0BC5C}"/>
                </a:ext>
              </a:extLst>
            </p:cNvPr>
            <p:cNvSpPr/>
            <p:nvPr/>
          </p:nvSpPr>
          <p:spPr>
            <a:xfrm>
              <a:off x="6571847" y="1216316"/>
              <a:ext cx="220447" cy="2204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3" name="L4">
            <a:extLst>
              <a:ext uri="{FF2B5EF4-FFF2-40B4-BE49-F238E27FC236}">
                <a16:creationId xmlns:a16="http://schemas.microsoft.com/office/drawing/2014/main" id="{B7E9F49C-63CE-B01C-C95E-ED79BCB00661}"/>
              </a:ext>
            </a:extLst>
          </p:cNvPr>
          <p:cNvSpPr/>
          <p:nvPr/>
        </p:nvSpPr>
        <p:spPr>
          <a:xfrm>
            <a:off x="4989244" y="981782"/>
            <a:ext cx="426695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altLang="zh-CN" sz="800" dirty="0"/>
              <a:t>Topic</a:t>
            </a:r>
            <a:endParaRPr lang="en-US" sz="800" dirty="0"/>
          </a:p>
        </p:txBody>
      </p:sp>
      <p:sp>
        <p:nvSpPr>
          <p:cNvPr id="84" name="L4">
            <a:extLst>
              <a:ext uri="{FF2B5EF4-FFF2-40B4-BE49-F238E27FC236}">
                <a16:creationId xmlns:a16="http://schemas.microsoft.com/office/drawing/2014/main" id="{9434CC57-8124-B50A-8CA2-3A7183F1BA30}"/>
              </a:ext>
            </a:extLst>
          </p:cNvPr>
          <p:cNvSpPr/>
          <p:nvPr/>
        </p:nvSpPr>
        <p:spPr>
          <a:xfrm>
            <a:off x="3368262" y="981782"/>
            <a:ext cx="1179629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altLang="zh-CN" sz="800" dirty="0"/>
              <a:t>Analysis methodology</a:t>
            </a:r>
            <a:endParaRPr lang="en-US" sz="8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B95D6C18-AB52-CE5C-CB35-74921B54492B}"/>
              </a:ext>
            </a:extLst>
          </p:cNvPr>
          <p:cNvCxnSpPr>
            <a:cxnSpLocks/>
            <a:stCxn id="77" idx="2"/>
            <a:endCxn id="84" idx="0"/>
          </p:cNvCxnSpPr>
          <p:nvPr/>
        </p:nvCxnSpPr>
        <p:spPr>
          <a:xfrm rot="5400000">
            <a:off x="4189309" y="555444"/>
            <a:ext cx="195106" cy="6575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614E7A3-F6E4-95EF-EED9-13EDFD213385}"/>
              </a:ext>
            </a:extLst>
          </p:cNvPr>
          <p:cNvCxnSpPr>
            <a:cxnSpLocks/>
            <a:stCxn id="74" idx="3"/>
            <a:endCxn id="23" idx="2"/>
          </p:cNvCxnSpPr>
          <p:nvPr/>
        </p:nvCxnSpPr>
        <p:spPr>
          <a:xfrm flipV="1">
            <a:off x="3988421" y="2165814"/>
            <a:ext cx="517003" cy="274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C78F7E22-7E56-68DD-C601-2E452B4D4831}"/>
              </a:ext>
            </a:extLst>
          </p:cNvPr>
          <p:cNvCxnSpPr>
            <a:cxnSpLocks/>
            <a:stCxn id="77" idx="2"/>
            <a:endCxn id="83" idx="0"/>
          </p:cNvCxnSpPr>
          <p:nvPr/>
        </p:nvCxnSpPr>
        <p:spPr>
          <a:xfrm rot="16200000" flipH="1">
            <a:off x="4811566" y="590756"/>
            <a:ext cx="195106" cy="5869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E56A2C43-2943-C1D3-AE2D-63CDD1B1FA02}"/>
              </a:ext>
            </a:extLst>
          </p:cNvPr>
          <p:cNvCxnSpPr>
            <a:cxnSpLocks/>
            <a:stCxn id="84" idx="2"/>
            <a:endCxn id="119" idx="0"/>
          </p:cNvCxnSpPr>
          <p:nvPr/>
        </p:nvCxnSpPr>
        <p:spPr>
          <a:xfrm rot="16200000" flipH="1">
            <a:off x="4153468" y="936781"/>
            <a:ext cx="266786" cy="6575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8763DA66-0615-079F-1C1C-E1465304EC0F}"/>
              </a:ext>
            </a:extLst>
          </p:cNvPr>
          <p:cNvCxnSpPr>
            <a:cxnSpLocks/>
            <a:stCxn id="83" idx="2"/>
            <a:endCxn id="119" idx="0"/>
          </p:cNvCxnSpPr>
          <p:nvPr/>
        </p:nvCxnSpPr>
        <p:spPr>
          <a:xfrm rot="5400000">
            <a:off x="4775726" y="972093"/>
            <a:ext cx="266786" cy="5869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L4">
            <a:extLst>
              <a:ext uri="{FF2B5EF4-FFF2-40B4-BE49-F238E27FC236}">
                <a16:creationId xmlns:a16="http://schemas.microsoft.com/office/drawing/2014/main" id="{E23C1621-3600-5FE9-53D8-E0C19FCF3F3F}"/>
              </a:ext>
            </a:extLst>
          </p:cNvPr>
          <p:cNvSpPr/>
          <p:nvPr/>
        </p:nvSpPr>
        <p:spPr>
          <a:xfrm>
            <a:off x="4192729" y="1398959"/>
            <a:ext cx="845833" cy="15039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lang="en-US" sz="800" dirty="0"/>
              <a:t>Query artifact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921E634-E384-65EA-517A-FE061CE61C56}"/>
              </a:ext>
            </a:extLst>
          </p:cNvPr>
          <p:cNvCxnSpPr>
            <a:cxnSpLocks/>
            <a:stCxn id="119" idx="2"/>
            <a:endCxn id="23" idx="0"/>
          </p:cNvCxnSpPr>
          <p:nvPr/>
        </p:nvCxnSpPr>
        <p:spPr>
          <a:xfrm>
            <a:off x="4615646" y="1549350"/>
            <a:ext cx="2" cy="50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9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999B-F5D4-B4BE-9E8C-0054B494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275F4-55FE-6AE7-9218-895B9AF47C66}"/>
              </a:ext>
            </a:extLst>
          </p:cNvPr>
          <p:cNvSpPr txBox="1"/>
          <p:nvPr/>
        </p:nvSpPr>
        <p:spPr>
          <a:xfrm>
            <a:off x="0" y="0"/>
            <a:ext cx="26035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迭代过程</a:t>
            </a:r>
            <a:r>
              <a:rPr lang="en-US" altLang="zh-CN" sz="1000" dirty="0"/>
              <a:t> – </a:t>
            </a:r>
            <a:r>
              <a:rPr lang="zh-CN" altLang="en-US" sz="1000" dirty="0"/>
              <a:t>（三）用户关切提取和画像生成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21123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55C70B-7366-7052-05C1-049EE48FE4AA}"/>
              </a:ext>
            </a:extLst>
          </p:cNvPr>
          <p:cNvGrpSpPr/>
          <p:nvPr/>
        </p:nvGrpSpPr>
        <p:grpSpPr>
          <a:xfrm>
            <a:off x="126998" y="-3672"/>
            <a:ext cx="8809413" cy="5147172"/>
            <a:chOff x="126998" y="-3672"/>
            <a:chExt cx="8809413" cy="51471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C6C0C25-BBDC-FDC5-84CA-0F3305F1455A}"/>
                </a:ext>
              </a:extLst>
            </p:cNvPr>
            <p:cNvSpPr txBox="1"/>
            <p:nvPr/>
          </p:nvSpPr>
          <p:spPr>
            <a:xfrm>
              <a:off x="4477235" y="3328225"/>
              <a:ext cx="131925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agent template + take user intent, plan, and KG evidence + return outline draft to orchestrator</a:t>
              </a:r>
              <a:endParaRPr lang="en-US" sz="500" dirty="0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811BAE8D-F298-949E-281E-B0DA2462EFDF}"/>
                </a:ext>
              </a:extLst>
            </p:cNvPr>
            <p:cNvSpPr/>
            <p:nvPr/>
          </p:nvSpPr>
          <p:spPr>
            <a:xfrm>
              <a:off x="5664969" y="2225543"/>
              <a:ext cx="1478656" cy="474306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A1A2409-1385-9B5E-1A10-0F908C242146}"/>
                </a:ext>
              </a:extLst>
            </p:cNvPr>
            <p:cNvSpPr/>
            <p:nvPr/>
          </p:nvSpPr>
          <p:spPr>
            <a:xfrm>
              <a:off x="5611945" y="1192114"/>
              <a:ext cx="2319364" cy="474306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150A81-9FE8-84D3-FD42-950DE9DF1C25}"/>
                </a:ext>
              </a:extLst>
            </p:cNvPr>
            <p:cNvSpPr txBox="1"/>
            <p:nvPr/>
          </p:nvSpPr>
          <p:spPr>
            <a:xfrm>
              <a:off x="1018485" y="731858"/>
              <a:ext cx="38824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Parsing</a:t>
              </a:r>
              <a:endParaRPr lang="en-US" sz="500" dirty="0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241E1461-23B0-A026-CB8D-9DB7167A7E28}"/>
                </a:ext>
              </a:extLst>
            </p:cNvPr>
            <p:cNvGrpSpPr/>
            <p:nvPr/>
          </p:nvGrpSpPr>
          <p:grpSpPr>
            <a:xfrm>
              <a:off x="2696151" y="2948534"/>
              <a:ext cx="581024" cy="599619"/>
              <a:chOff x="689279" y="2932240"/>
              <a:chExt cx="581024" cy="599619"/>
            </a:xfrm>
          </p:grpSpPr>
          <p:pic>
            <p:nvPicPr>
              <p:cNvPr id="9" name="Picture 2" descr="Database - Free technology icons">
                <a:extLst>
                  <a:ext uri="{FF2B5EF4-FFF2-40B4-BE49-F238E27FC236}">
                    <a16:creationId xmlns:a16="http://schemas.microsoft.com/office/drawing/2014/main" id="{1B17061C-8BC3-652B-C4AB-29356EE42E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9279" y="2932240"/>
                <a:ext cx="581024" cy="384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A1C47E-F778-F24B-3B5E-157365914357}"/>
                  </a:ext>
                </a:extLst>
              </p:cNvPr>
              <p:cNvSpPr txBox="1"/>
              <p:nvPr/>
            </p:nvSpPr>
            <p:spPr>
              <a:xfrm>
                <a:off x="694296" y="3316415"/>
                <a:ext cx="570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KG Store</a:t>
                </a:r>
                <a:endParaRPr lang="en-US" sz="800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0C41CFC-1AD6-1F53-C7CD-DDFCDD155A29}"/>
                </a:ext>
              </a:extLst>
            </p:cNvPr>
            <p:cNvSpPr txBox="1"/>
            <p:nvPr/>
          </p:nvSpPr>
          <p:spPr>
            <a:xfrm>
              <a:off x="883159" y="1764891"/>
              <a:ext cx="6447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Signal extraction</a:t>
              </a:r>
              <a:endParaRPr lang="en-US" sz="500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3B3A188-FB33-7959-B3A1-3010B1682782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1498889" y="624477"/>
              <a:ext cx="0" cy="3782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01EAE2A-C895-3FB1-F3C1-4A78DD8A7F19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1498889" y="1153128"/>
              <a:ext cx="0" cy="3782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2098424-8375-3253-85C3-C39E3E417617}"/>
                </a:ext>
              </a:extLst>
            </p:cNvPr>
            <p:cNvCxnSpPr>
              <a:cxnSpLocks/>
              <a:stCxn id="7" idx="2"/>
              <a:endCxn id="35" idx="0"/>
            </p:cNvCxnSpPr>
            <p:nvPr/>
          </p:nvCxnSpPr>
          <p:spPr>
            <a:xfrm>
              <a:off x="1498889" y="1681779"/>
              <a:ext cx="0" cy="3782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D61405B0-0F4C-C740-F2AA-A110C2E3CCB8}"/>
                </a:ext>
              </a:extLst>
            </p:cNvPr>
            <p:cNvGrpSpPr/>
            <p:nvPr/>
          </p:nvGrpSpPr>
          <p:grpSpPr>
            <a:xfrm>
              <a:off x="1108428" y="474086"/>
              <a:ext cx="780921" cy="1736345"/>
              <a:chOff x="1468553" y="474086"/>
              <a:chExt cx="780921" cy="1736345"/>
            </a:xfrm>
          </p:grpSpPr>
          <p:sp>
            <p:nvSpPr>
              <p:cNvPr id="4" name="L4">
                <a:extLst>
                  <a:ext uri="{FF2B5EF4-FFF2-40B4-BE49-F238E27FC236}">
                    <a16:creationId xmlns:a16="http://schemas.microsoft.com/office/drawing/2014/main" id="{31DD7B8F-342B-FB2C-35D9-996C25DD4A42}"/>
                  </a:ext>
                </a:extLst>
              </p:cNvPr>
              <p:cNvSpPr/>
              <p:nvPr/>
            </p:nvSpPr>
            <p:spPr>
              <a:xfrm>
                <a:off x="1468553" y="474086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Local corpus</a:t>
                </a:r>
              </a:p>
            </p:txBody>
          </p:sp>
          <p:sp>
            <p:nvSpPr>
              <p:cNvPr id="5" name="L4">
                <a:extLst>
                  <a:ext uri="{FF2B5EF4-FFF2-40B4-BE49-F238E27FC236}">
                    <a16:creationId xmlns:a16="http://schemas.microsoft.com/office/drawing/2014/main" id="{2FCCC912-75A1-2318-025F-61B160AEC8C8}"/>
                  </a:ext>
                </a:extLst>
              </p:cNvPr>
              <p:cNvSpPr/>
              <p:nvPr/>
            </p:nvSpPr>
            <p:spPr>
              <a:xfrm>
                <a:off x="1614376" y="1002737"/>
                <a:ext cx="489276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CA" sz="800" dirty="0"/>
                  <a:t>Events</a:t>
                </a:r>
                <a:endParaRPr lang="en-US" sz="800" dirty="0"/>
              </a:p>
            </p:txBody>
          </p:sp>
          <p:sp>
            <p:nvSpPr>
              <p:cNvPr id="7" name="L4">
                <a:extLst>
                  <a:ext uri="{FF2B5EF4-FFF2-40B4-BE49-F238E27FC236}">
                    <a16:creationId xmlns:a16="http://schemas.microsoft.com/office/drawing/2014/main" id="{3ED56298-0861-F80B-6EAF-75ABE9359F2E}"/>
                  </a:ext>
                </a:extLst>
              </p:cNvPr>
              <p:cNvSpPr/>
              <p:nvPr/>
            </p:nvSpPr>
            <p:spPr>
              <a:xfrm>
                <a:off x="1468553" y="1531388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CA" sz="800" dirty="0"/>
                  <a:t>Embeddings </a:t>
                </a:r>
                <a:endParaRPr lang="en-US" sz="800" dirty="0"/>
              </a:p>
            </p:txBody>
          </p:sp>
          <p:sp>
            <p:nvSpPr>
              <p:cNvPr id="35" name="L4">
                <a:extLst>
                  <a:ext uri="{FF2B5EF4-FFF2-40B4-BE49-F238E27FC236}">
                    <a16:creationId xmlns:a16="http://schemas.microsoft.com/office/drawing/2014/main" id="{4C8FBB77-B42B-3CE5-EC3F-78D382B652B3}"/>
                  </a:ext>
                </a:extLst>
              </p:cNvPr>
              <p:cNvSpPr/>
              <p:nvPr/>
            </p:nvSpPr>
            <p:spPr>
              <a:xfrm>
                <a:off x="1565236" y="2060040"/>
                <a:ext cx="587556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CA" sz="800" dirty="0"/>
                  <a:t>Signals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F7EF05E4-A664-B2C6-9BE0-58718FB347D2}"/>
                </a:ext>
              </a:extLst>
            </p:cNvPr>
            <p:cNvGrpSpPr/>
            <p:nvPr/>
          </p:nvGrpSpPr>
          <p:grpSpPr>
            <a:xfrm>
              <a:off x="2445551" y="1361207"/>
              <a:ext cx="630301" cy="567377"/>
              <a:chOff x="3104987" y="1358782"/>
              <a:chExt cx="630301" cy="567377"/>
            </a:xfrm>
          </p:grpSpPr>
          <p:pic>
            <p:nvPicPr>
              <p:cNvPr id="37" name="Picture 2" descr="Database - Free technology icons">
                <a:extLst>
                  <a:ext uri="{FF2B5EF4-FFF2-40B4-BE49-F238E27FC236}">
                    <a16:creationId xmlns:a16="http://schemas.microsoft.com/office/drawing/2014/main" id="{1205AF1C-87E4-870A-D13F-29E9BC2FF3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29625" y="1358782"/>
                <a:ext cx="581024" cy="384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AF86DA-B4EE-C126-FEC5-91A2935DFA24}"/>
                  </a:ext>
                </a:extLst>
              </p:cNvPr>
              <p:cNvSpPr txBox="1"/>
              <p:nvPr/>
            </p:nvSpPr>
            <p:spPr>
              <a:xfrm>
                <a:off x="3104987" y="1710715"/>
                <a:ext cx="63030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Vector DB</a:t>
                </a:r>
                <a:endParaRPr lang="en-US" sz="800" dirty="0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E6D5445A-41F2-6A7D-E18C-B3B00B4E117B}"/>
                </a:ext>
              </a:extLst>
            </p:cNvPr>
            <p:cNvGrpSpPr/>
            <p:nvPr/>
          </p:nvGrpSpPr>
          <p:grpSpPr>
            <a:xfrm>
              <a:off x="2234755" y="2235177"/>
              <a:ext cx="1051891" cy="435669"/>
              <a:chOff x="2517805" y="2339598"/>
              <a:chExt cx="1051891" cy="435669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E9065F-9C87-C453-C6B9-256810CBDEBE}"/>
                  </a:ext>
                </a:extLst>
              </p:cNvPr>
              <p:cNvSpPr txBox="1"/>
              <p:nvPr/>
            </p:nvSpPr>
            <p:spPr>
              <a:xfrm>
                <a:off x="2517805" y="2559823"/>
                <a:ext cx="105189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Profile Summarizer</a:t>
                </a:r>
                <a:endParaRPr lang="en-US" sz="800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A31C676-1EBC-3EB5-7EC5-FBB469DFAECA}"/>
                  </a:ext>
                </a:extLst>
              </p:cNvPr>
              <p:cNvSpPr/>
              <p:nvPr/>
            </p:nvSpPr>
            <p:spPr>
              <a:xfrm>
                <a:off x="2933527" y="2339598"/>
                <a:ext cx="220447" cy="2204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D58218E-35A6-AF96-6B7B-EED8F6A143FF}"/>
                </a:ext>
              </a:extLst>
            </p:cNvPr>
            <p:cNvGrpSpPr/>
            <p:nvPr/>
          </p:nvGrpSpPr>
          <p:grpSpPr>
            <a:xfrm>
              <a:off x="126998" y="3045864"/>
              <a:ext cx="827471" cy="409952"/>
              <a:chOff x="3336909" y="3369246"/>
              <a:chExt cx="827471" cy="40995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21B020D-6D77-3257-0F66-91707BFE35DE}"/>
                  </a:ext>
                </a:extLst>
              </p:cNvPr>
              <p:cNvSpPr txBox="1"/>
              <p:nvPr/>
            </p:nvSpPr>
            <p:spPr>
              <a:xfrm>
                <a:off x="3336909" y="3563754"/>
                <a:ext cx="8274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Skim Extractor</a:t>
                </a:r>
                <a:endParaRPr lang="en-US" sz="800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030E515-59B8-45B8-7684-618A9618317D}"/>
                  </a:ext>
                </a:extLst>
              </p:cNvPr>
              <p:cNvSpPr/>
              <p:nvPr/>
            </p:nvSpPr>
            <p:spPr>
              <a:xfrm>
                <a:off x="3640421" y="3369246"/>
                <a:ext cx="220447" cy="2204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L4">
              <a:extLst>
                <a:ext uri="{FF2B5EF4-FFF2-40B4-BE49-F238E27FC236}">
                  <a16:creationId xmlns:a16="http://schemas.microsoft.com/office/drawing/2014/main" id="{823972CD-E301-62D2-E223-5FFCE606FD6C}"/>
                </a:ext>
              </a:extLst>
            </p:cNvPr>
            <p:cNvSpPr/>
            <p:nvPr/>
          </p:nvSpPr>
          <p:spPr>
            <a:xfrm>
              <a:off x="146412" y="474086"/>
              <a:ext cx="780921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CA" sz="800" dirty="0"/>
                <a:t>Full docs</a:t>
              </a:r>
            </a:p>
          </p:txBody>
        </p: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0AF10AFE-4914-2E85-05B2-7A68DE74E104}"/>
                </a:ext>
              </a:extLst>
            </p:cNvPr>
            <p:cNvCxnSpPr>
              <a:cxnSpLocks/>
              <a:stCxn id="54" idx="2"/>
              <a:endCxn id="52" idx="0"/>
            </p:cNvCxnSpPr>
            <p:nvPr/>
          </p:nvCxnSpPr>
          <p:spPr>
            <a:xfrm rot="16200000" flipH="1">
              <a:off x="-671890" y="1833239"/>
              <a:ext cx="2421387" cy="3861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L4">
              <a:extLst>
                <a:ext uri="{FF2B5EF4-FFF2-40B4-BE49-F238E27FC236}">
                  <a16:creationId xmlns:a16="http://schemas.microsoft.com/office/drawing/2014/main" id="{5A6B7211-48AC-7E01-4DB8-FFCEE62DC936}"/>
                </a:ext>
              </a:extLst>
            </p:cNvPr>
            <p:cNvSpPr/>
            <p:nvPr/>
          </p:nvSpPr>
          <p:spPr>
            <a:xfrm>
              <a:off x="1302193" y="3175645"/>
              <a:ext cx="930049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CA" sz="800" dirty="0"/>
                <a:t>Canonical items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7612C9A-4B4C-571C-DCFD-98B46CFA58DC}"/>
                </a:ext>
              </a:extLst>
            </p:cNvPr>
            <p:cNvSpPr txBox="1"/>
            <p:nvPr/>
          </p:nvSpPr>
          <p:spPr>
            <a:xfrm>
              <a:off x="637904" y="2974358"/>
              <a:ext cx="97494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Extract triples + </a:t>
              </a:r>
              <a:r>
                <a:rPr lang="en-CA" sz="500" dirty="0" err="1"/>
                <a:t>canoincalize</a:t>
              </a:r>
              <a:endParaRPr lang="en-US" sz="5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E976B53-C602-899B-2F34-BB2045E375AB}"/>
                </a:ext>
              </a:extLst>
            </p:cNvPr>
            <p:cNvSpPr txBox="1"/>
            <p:nvPr/>
          </p:nvSpPr>
          <p:spPr>
            <a:xfrm>
              <a:off x="2093657" y="2979572"/>
              <a:ext cx="60144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Dedupe + store</a:t>
              </a:r>
              <a:endParaRPr lang="en-US" sz="500" dirty="0"/>
            </a:p>
          </p:txBody>
        </p: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0DC9BC6A-9228-1449-C6AA-97DABBD60E57}"/>
                </a:ext>
              </a:extLst>
            </p:cNvPr>
            <p:cNvGrpSpPr/>
            <p:nvPr/>
          </p:nvGrpSpPr>
          <p:grpSpPr>
            <a:xfrm>
              <a:off x="5658656" y="1265840"/>
              <a:ext cx="526106" cy="385283"/>
              <a:chOff x="6419017" y="1216316"/>
              <a:chExt cx="526106" cy="385283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BE65FE9-1539-75EF-C3E2-789DD4B0B486}"/>
                  </a:ext>
                </a:extLst>
              </p:cNvPr>
              <p:cNvSpPr txBox="1"/>
              <p:nvPr/>
            </p:nvSpPr>
            <p:spPr>
              <a:xfrm>
                <a:off x="6419017" y="1386155"/>
                <a:ext cx="5261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Planner</a:t>
                </a:r>
                <a:endParaRPr lang="en-US" sz="800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5BBD2D4-A7D0-C95E-4654-A35080E11D01}"/>
                  </a:ext>
                </a:extLst>
              </p:cNvPr>
              <p:cNvSpPr/>
              <p:nvPr/>
            </p:nvSpPr>
            <p:spPr>
              <a:xfrm>
                <a:off x="6571847" y="1216316"/>
                <a:ext cx="220447" cy="22044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1D922FEC-1199-0D40-C050-F83C29DB277A}"/>
                </a:ext>
              </a:extLst>
            </p:cNvPr>
            <p:cNvGrpSpPr/>
            <p:nvPr/>
          </p:nvGrpSpPr>
          <p:grpSpPr>
            <a:xfrm>
              <a:off x="7146763" y="1270907"/>
              <a:ext cx="806631" cy="385282"/>
              <a:chOff x="6278755" y="1885666"/>
              <a:chExt cx="806631" cy="385282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80A2017-95EF-FFDF-76AF-1097D2C1DF75}"/>
                  </a:ext>
                </a:extLst>
              </p:cNvPr>
              <p:cNvSpPr txBox="1"/>
              <p:nvPr/>
            </p:nvSpPr>
            <p:spPr>
              <a:xfrm>
                <a:off x="6278755" y="2055504"/>
                <a:ext cx="8066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Plan Reviewer</a:t>
                </a:r>
                <a:endParaRPr lang="en-US" sz="800" dirty="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BBF966F-EF95-714D-E518-DA0A01CA080E}"/>
                  </a:ext>
                </a:extLst>
              </p:cNvPr>
              <p:cNvSpPr/>
              <p:nvPr/>
            </p:nvSpPr>
            <p:spPr>
              <a:xfrm>
                <a:off x="6571847" y="1885666"/>
                <a:ext cx="220447" cy="22044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4EECFE30-9574-5A17-A3C7-1591626CEE1D}"/>
                </a:ext>
              </a:extLst>
            </p:cNvPr>
            <p:cNvGrpSpPr/>
            <p:nvPr/>
          </p:nvGrpSpPr>
          <p:grpSpPr>
            <a:xfrm>
              <a:off x="7097818" y="3527688"/>
              <a:ext cx="938077" cy="414177"/>
              <a:chOff x="6639613" y="3801068"/>
              <a:chExt cx="938077" cy="414177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815D2BE-B80C-48C9-AEB8-D737F5574447}"/>
                  </a:ext>
                </a:extLst>
              </p:cNvPr>
              <p:cNvSpPr txBox="1"/>
              <p:nvPr/>
            </p:nvSpPr>
            <p:spPr>
              <a:xfrm>
                <a:off x="6639613" y="3999801"/>
                <a:ext cx="93807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Outline Reviewer</a:t>
                </a:r>
                <a:endParaRPr lang="en-US" sz="800" dirty="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03F193F-BC7A-8A17-D208-D47DEB918313}"/>
                  </a:ext>
                </a:extLst>
              </p:cNvPr>
              <p:cNvSpPr/>
              <p:nvPr/>
            </p:nvSpPr>
            <p:spPr>
              <a:xfrm>
                <a:off x="6998428" y="3801068"/>
                <a:ext cx="220447" cy="2204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B1A2E13-96EF-AB1F-3649-E584B553EFA4}"/>
                </a:ext>
              </a:extLst>
            </p:cNvPr>
            <p:cNvGrpSpPr/>
            <p:nvPr/>
          </p:nvGrpSpPr>
          <p:grpSpPr>
            <a:xfrm>
              <a:off x="5747889" y="3527687"/>
              <a:ext cx="546945" cy="414179"/>
              <a:chOff x="6835179" y="3016134"/>
              <a:chExt cx="546945" cy="414179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47CD693-0B87-1C0C-7E17-DBFA8D003A10}"/>
                  </a:ext>
                </a:extLst>
              </p:cNvPr>
              <p:cNvSpPr txBox="1"/>
              <p:nvPr/>
            </p:nvSpPr>
            <p:spPr>
              <a:xfrm>
                <a:off x="6835179" y="3214869"/>
                <a:ext cx="54694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Outliner</a:t>
                </a:r>
                <a:endParaRPr lang="en-US" sz="800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4B27027-14A7-C374-271A-88BD836C205D}"/>
                  </a:ext>
                </a:extLst>
              </p:cNvPr>
              <p:cNvSpPr/>
              <p:nvPr/>
            </p:nvSpPr>
            <p:spPr>
              <a:xfrm>
                <a:off x="6998428" y="3016134"/>
                <a:ext cx="220447" cy="2204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21FD5899-0E4B-5D19-3D77-7E997052213B}"/>
                </a:ext>
              </a:extLst>
            </p:cNvPr>
            <p:cNvGrpSpPr/>
            <p:nvPr/>
          </p:nvGrpSpPr>
          <p:grpSpPr>
            <a:xfrm>
              <a:off x="4512684" y="816070"/>
              <a:ext cx="1048685" cy="425219"/>
              <a:chOff x="4669671" y="742445"/>
              <a:chExt cx="1048685" cy="425219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68E3F6A-9863-6587-9A63-42FBFF6A57D7}"/>
                  </a:ext>
                </a:extLst>
              </p:cNvPr>
              <p:cNvSpPr txBox="1"/>
              <p:nvPr/>
            </p:nvSpPr>
            <p:spPr>
              <a:xfrm>
                <a:off x="4669671" y="952220"/>
                <a:ext cx="10486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Query Decomposer</a:t>
                </a:r>
                <a:endParaRPr lang="en-US" sz="800" dirty="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4B905F7-1262-6F38-2339-6A2338E70B52}"/>
                  </a:ext>
                </a:extLst>
              </p:cNvPr>
              <p:cNvSpPr/>
              <p:nvPr/>
            </p:nvSpPr>
            <p:spPr>
              <a:xfrm>
                <a:off x="5083790" y="742445"/>
                <a:ext cx="220447" cy="2204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15604F7D-051C-8BE6-9A67-DD6A5009B826}"/>
                </a:ext>
              </a:extLst>
            </p:cNvPr>
            <p:cNvCxnSpPr>
              <a:cxnSpLocks/>
              <a:stCxn id="73" idx="2"/>
              <a:endCxn id="75" idx="0"/>
            </p:cNvCxnSpPr>
            <p:nvPr/>
          </p:nvCxnSpPr>
          <p:spPr>
            <a:xfrm>
              <a:off x="5035295" y="426700"/>
              <a:ext cx="1732" cy="38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9719B773-72D8-854E-0074-CCB1DEA930A6}"/>
                </a:ext>
              </a:extLst>
            </p:cNvPr>
            <p:cNvGrpSpPr/>
            <p:nvPr/>
          </p:nvGrpSpPr>
          <p:grpSpPr>
            <a:xfrm>
              <a:off x="6540741" y="2316756"/>
              <a:ext cx="632500" cy="413228"/>
              <a:chOff x="6271235" y="2986997"/>
              <a:chExt cx="632500" cy="413228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507D350-8152-02BE-8313-6F2B4978E261}"/>
                  </a:ext>
                </a:extLst>
              </p:cNvPr>
              <p:cNvSpPr txBox="1"/>
              <p:nvPr/>
            </p:nvSpPr>
            <p:spPr>
              <a:xfrm>
                <a:off x="6271235" y="3184781"/>
                <a:ext cx="63250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Retriever</a:t>
                </a:r>
                <a:endParaRPr lang="en-US" sz="800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F0BD8BE-9F81-8A86-2EC1-DB10F662BC8C}"/>
                  </a:ext>
                </a:extLst>
              </p:cNvPr>
              <p:cNvSpPr/>
              <p:nvPr/>
            </p:nvSpPr>
            <p:spPr>
              <a:xfrm>
                <a:off x="6477262" y="2986997"/>
                <a:ext cx="220447" cy="220447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94" name="Graphic 93" descr="Arrow circle with solid fill">
              <a:extLst>
                <a:ext uri="{FF2B5EF4-FFF2-40B4-BE49-F238E27FC236}">
                  <a16:creationId xmlns:a16="http://schemas.microsoft.com/office/drawing/2014/main" id="{7F1996D3-2FC0-504A-1C5A-95A29B7B5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77461" y="839006"/>
              <a:ext cx="384769" cy="384769"/>
            </a:xfrm>
            <a:prstGeom prst="rect">
              <a:avLst/>
            </a:prstGeom>
          </p:spPr>
        </p:pic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70EDDD0E-C09C-8D0E-0DDF-C0A5C951E0D9}"/>
                </a:ext>
              </a:extLst>
            </p:cNvPr>
            <p:cNvGrpSpPr/>
            <p:nvPr/>
          </p:nvGrpSpPr>
          <p:grpSpPr>
            <a:xfrm>
              <a:off x="5666325" y="2321912"/>
              <a:ext cx="1011445" cy="410208"/>
              <a:chOff x="6081763" y="2430991"/>
              <a:chExt cx="1011445" cy="410208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D1A21F6-1DFB-2A68-37BF-27885CC98291}"/>
                  </a:ext>
                </a:extLst>
              </p:cNvPr>
              <p:cNvSpPr txBox="1"/>
              <p:nvPr/>
            </p:nvSpPr>
            <p:spPr>
              <a:xfrm>
                <a:off x="6081763" y="2625755"/>
                <a:ext cx="101144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Sufficiency Scorer</a:t>
                </a:r>
                <a:endParaRPr lang="en-US" sz="800" dirty="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2F8D032B-3F05-4236-61B2-26CBC2DB81DF}"/>
                  </a:ext>
                </a:extLst>
              </p:cNvPr>
              <p:cNvSpPr/>
              <p:nvPr/>
            </p:nvSpPr>
            <p:spPr>
              <a:xfrm>
                <a:off x="6477262" y="2430991"/>
                <a:ext cx="220447" cy="220447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10" name="Graphic 109" descr="Arrow circle with solid fill">
              <a:extLst>
                <a:ext uri="{FF2B5EF4-FFF2-40B4-BE49-F238E27FC236}">
                  <a16:creationId xmlns:a16="http://schemas.microsoft.com/office/drawing/2014/main" id="{8102A6AC-9B6D-2F58-EAC4-CC8E44C12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94244" y="2607239"/>
              <a:ext cx="341295" cy="341295"/>
            </a:xfrm>
            <a:prstGeom prst="rect">
              <a:avLst/>
            </a:prstGeom>
          </p:spPr>
        </p:pic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D2B33A8D-65FB-7568-D772-725BC4AB53EA}"/>
                </a:ext>
              </a:extLst>
            </p:cNvPr>
            <p:cNvGrpSpPr/>
            <p:nvPr/>
          </p:nvGrpSpPr>
          <p:grpSpPr>
            <a:xfrm>
              <a:off x="6264050" y="1265753"/>
              <a:ext cx="803425" cy="385283"/>
              <a:chOff x="6280358" y="1550991"/>
              <a:chExt cx="803425" cy="385283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9A393B1E-26B8-155D-2158-FD7115C8E38A}"/>
                  </a:ext>
                </a:extLst>
              </p:cNvPr>
              <p:cNvSpPr/>
              <p:nvPr/>
            </p:nvSpPr>
            <p:spPr>
              <a:xfrm>
                <a:off x="6571847" y="1550991"/>
                <a:ext cx="220447" cy="22044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E0EF2F6-2D52-0187-28A3-9C916B7493C6}"/>
                  </a:ext>
                </a:extLst>
              </p:cNvPr>
              <p:cNvSpPr txBox="1"/>
              <p:nvPr/>
            </p:nvSpPr>
            <p:spPr>
              <a:xfrm>
                <a:off x="6280358" y="1720830"/>
                <a:ext cx="80342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00" dirty="0"/>
                  <a:t>Plan Validator</a:t>
                </a:r>
                <a:endParaRPr lang="en-US" sz="800" dirty="0"/>
              </a:p>
            </p:txBody>
          </p: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90066357-EED6-BD77-F988-B22EE5770D01}"/>
                </a:ext>
              </a:extLst>
            </p:cNvPr>
            <p:cNvGrpSpPr/>
            <p:nvPr/>
          </p:nvGrpSpPr>
          <p:grpSpPr>
            <a:xfrm>
              <a:off x="6228890" y="3527687"/>
              <a:ext cx="934871" cy="414179"/>
              <a:chOff x="6641216" y="3408601"/>
              <a:chExt cx="934871" cy="41417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D9AE13B6-935D-38AD-852B-ED9DB177D867}"/>
                  </a:ext>
                </a:extLst>
              </p:cNvPr>
              <p:cNvSpPr/>
              <p:nvPr/>
            </p:nvSpPr>
            <p:spPr>
              <a:xfrm>
                <a:off x="6998428" y="3408601"/>
                <a:ext cx="220447" cy="2204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5746AF4-044A-2C77-74E5-F32461746849}"/>
                  </a:ext>
                </a:extLst>
              </p:cNvPr>
              <p:cNvSpPr txBox="1"/>
              <p:nvPr/>
            </p:nvSpPr>
            <p:spPr>
              <a:xfrm>
                <a:off x="6641216" y="3607336"/>
                <a:ext cx="9348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Outline Validator</a:t>
                </a:r>
                <a:endParaRPr lang="en-US" sz="800" dirty="0"/>
              </a:p>
            </p:txBody>
          </p:sp>
        </p:grpSp>
        <p:pic>
          <p:nvPicPr>
            <p:cNvPr id="121" name="Graphic 120" descr="Arrow circle with solid fill">
              <a:extLst>
                <a:ext uri="{FF2B5EF4-FFF2-40B4-BE49-F238E27FC236}">
                  <a16:creationId xmlns:a16="http://schemas.microsoft.com/office/drawing/2014/main" id="{A913303B-F058-06A3-1E7A-27E995D25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6995" y="3700068"/>
              <a:ext cx="341295" cy="341295"/>
            </a:xfrm>
            <a:prstGeom prst="rect">
              <a:avLst/>
            </a:prstGeom>
          </p:spPr>
        </p:pic>
        <p:sp>
          <p:nvSpPr>
            <p:cNvPr id="122" name="L4">
              <a:extLst>
                <a:ext uri="{FF2B5EF4-FFF2-40B4-BE49-F238E27FC236}">
                  <a16:creationId xmlns:a16="http://schemas.microsoft.com/office/drawing/2014/main" id="{AA143994-D52C-CE98-E445-CF7F2DA226EE}"/>
                </a:ext>
              </a:extLst>
            </p:cNvPr>
            <p:cNvSpPr/>
            <p:nvPr/>
          </p:nvSpPr>
          <p:spPr>
            <a:xfrm>
              <a:off x="7104822" y="4041363"/>
              <a:ext cx="924964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CA" sz="800" dirty="0"/>
                <a:t>O</a:t>
              </a:r>
              <a:r>
                <a:rPr lang="en-US" sz="800" dirty="0" err="1"/>
                <a:t>utline</a:t>
              </a:r>
              <a:r>
                <a:rPr lang="en-US" sz="800" dirty="0"/>
                <a:t> Artifact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7945736A-6D1D-E64F-0C7E-C95AFDB108E8}"/>
                </a:ext>
              </a:extLst>
            </p:cNvPr>
            <p:cNvCxnSpPr>
              <a:stCxn id="4" idx="1"/>
              <a:endCxn id="54" idx="3"/>
            </p:cNvCxnSpPr>
            <p:nvPr/>
          </p:nvCxnSpPr>
          <p:spPr>
            <a:xfrm flipH="1">
              <a:off x="927333" y="549282"/>
              <a:ext cx="1810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D8B798D-9D54-02D4-E780-FC6DD4D5F35F}"/>
                </a:ext>
              </a:extLst>
            </p:cNvPr>
            <p:cNvSpPr txBox="1"/>
            <p:nvPr/>
          </p:nvSpPr>
          <p:spPr>
            <a:xfrm>
              <a:off x="1755059" y="1960783"/>
              <a:ext cx="80663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Store all embeddings </a:t>
              </a:r>
              <a:endParaRPr lang="en-US" sz="5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0125CAB4-F21B-6802-D5B2-BE7556810CB3}"/>
                </a:ext>
              </a:extLst>
            </p:cNvPr>
            <p:cNvSpPr txBox="1"/>
            <p:nvPr/>
          </p:nvSpPr>
          <p:spPr>
            <a:xfrm>
              <a:off x="858301" y="1250510"/>
              <a:ext cx="61747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Chunk + embed</a:t>
              </a:r>
              <a:endParaRPr lang="en-US" sz="5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0C8A71F-89F8-B4F2-5314-49CF6B8F8613}"/>
                </a:ext>
              </a:extLst>
            </p:cNvPr>
            <p:cNvSpPr txBox="1"/>
            <p:nvPr/>
          </p:nvSpPr>
          <p:spPr>
            <a:xfrm>
              <a:off x="535135" y="2429942"/>
              <a:ext cx="63190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Query full docs </a:t>
              </a:r>
              <a:endParaRPr lang="en-US" sz="500" dirty="0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D21E56BC-808C-090F-E641-DA8CE0A1DB68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885823" y="3250841"/>
              <a:ext cx="4163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: Elbow 205">
              <a:extLst>
                <a:ext uri="{FF2B5EF4-FFF2-40B4-BE49-F238E27FC236}">
                  <a16:creationId xmlns:a16="http://schemas.microsoft.com/office/drawing/2014/main" id="{0D8BAEF3-753B-ED28-9495-8E2A7D8D3A66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rot="10800000" flipV="1">
              <a:off x="540734" y="2843364"/>
              <a:ext cx="3793796" cy="612451"/>
            </a:xfrm>
            <a:prstGeom prst="bentConnector4">
              <a:avLst>
                <a:gd name="adj1" fmla="val 136"/>
                <a:gd name="adj2" fmla="val 137325"/>
              </a:avLst>
            </a:prstGeom>
            <a:ln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7C68D24-D4E5-4429-B9BF-F037B6BE0A55}"/>
                </a:ext>
              </a:extLst>
            </p:cNvPr>
            <p:cNvSpPr txBox="1"/>
            <p:nvPr/>
          </p:nvSpPr>
          <p:spPr>
            <a:xfrm>
              <a:off x="1698273" y="3699962"/>
              <a:ext cx="141824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agent template</a:t>
              </a:r>
              <a:endParaRPr lang="en-US" sz="500" dirty="0"/>
            </a:p>
          </p:txBody>
        </p:sp>
        <p:cxnSp>
          <p:nvCxnSpPr>
            <p:cNvPr id="231" name="Connector: Elbow 230">
              <a:extLst>
                <a:ext uri="{FF2B5EF4-FFF2-40B4-BE49-F238E27FC236}">
                  <a16:creationId xmlns:a16="http://schemas.microsoft.com/office/drawing/2014/main" id="{2A597227-F351-6934-35A8-6BC82AE1D364}"/>
                </a:ext>
              </a:extLst>
            </p:cNvPr>
            <p:cNvCxnSpPr>
              <a:cxnSpLocks/>
              <a:stCxn id="15" idx="0"/>
              <a:endCxn id="75" idx="3"/>
            </p:cNvCxnSpPr>
            <p:nvPr/>
          </p:nvCxnSpPr>
          <p:spPr>
            <a:xfrm rot="5400000" flipH="1" flipV="1">
              <a:off x="4021526" y="1438320"/>
              <a:ext cx="1371647" cy="503475"/>
            </a:xfrm>
            <a:prstGeom prst="bentConnector3">
              <a:avLst>
                <a:gd name="adj1" fmla="val 100307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E2C5CDA-06FB-C481-447A-AC0D36B82356}"/>
                </a:ext>
              </a:extLst>
            </p:cNvPr>
            <p:cNvGrpSpPr/>
            <p:nvPr/>
          </p:nvGrpSpPr>
          <p:grpSpPr>
            <a:xfrm>
              <a:off x="3709471" y="272954"/>
              <a:ext cx="2651647" cy="153746"/>
              <a:chOff x="4083064" y="272954"/>
              <a:chExt cx="2651647" cy="153746"/>
            </a:xfrm>
          </p:grpSpPr>
          <p:sp>
            <p:nvSpPr>
              <p:cNvPr id="73" name="L4">
                <a:extLst>
                  <a:ext uri="{FF2B5EF4-FFF2-40B4-BE49-F238E27FC236}">
                    <a16:creationId xmlns:a16="http://schemas.microsoft.com/office/drawing/2014/main" id="{C2C52F6C-4C86-3077-B5A7-3F6F54401C06}"/>
                  </a:ext>
                </a:extLst>
              </p:cNvPr>
              <p:cNvSpPr/>
              <p:nvPr/>
            </p:nvSpPr>
            <p:spPr>
              <a:xfrm>
                <a:off x="5018427" y="276309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Query topic</a:t>
                </a:r>
              </a:p>
            </p:txBody>
          </p:sp>
          <p:sp>
            <p:nvSpPr>
              <p:cNvPr id="76" name="L4">
                <a:extLst>
                  <a:ext uri="{FF2B5EF4-FFF2-40B4-BE49-F238E27FC236}">
                    <a16:creationId xmlns:a16="http://schemas.microsoft.com/office/drawing/2014/main" id="{87B9255D-064E-EC6B-D21B-04976F4A5B1F}"/>
                  </a:ext>
                </a:extLst>
              </p:cNvPr>
              <p:cNvSpPr/>
              <p:nvPr/>
            </p:nvSpPr>
            <p:spPr>
              <a:xfrm>
                <a:off x="4083064" y="276309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User</a:t>
                </a:r>
              </a:p>
            </p:txBody>
          </p:sp>
          <p:sp>
            <p:nvSpPr>
              <p:cNvPr id="83" name="L4">
                <a:extLst>
                  <a:ext uri="{FF2B5EF4-FFF2-40B4-BE49-F238E27FC236}">
                    <a16:creationId xmlns:a16="http://schemas.microsoft.com/office/drawing/2014/main" id="{28B633DD-85A0-1D99-5AC0-F44DACF2BA86}"/>
                  </a:ext>
                </a:extLst>
              </p:cNvPr>
              <p:cNvSpPr/>
              <p:nvPr/>
            </p:nvSpPr>
            <p:spPr>
              <a:xfrm>
                <a:off x="5953790" y="272954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User Intent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1CB3EAE6-517F-2308-B3A5-3FC458BCE783}"/>
                  </a:ext>
                </a:extLst>
              </p:cNvPr>
              <p:cNvCxnSpPr>
                <a:cxnSpLocks/>
                <a:stCxn id="76" idx="3"/>
                <a:endCxn id="73" idx="1"/>
              </p:cNvCxnSpPr>
              <p:nvPr/>
            </p:nvCxnSpPr>
            <p:spPr>
              <a:xfrm>
                <a:off x="4863985" y="351505"/>
                <a:ext cx="15444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8EC046A0-B7D1-3DDC-2987-3AE43706044F}"/>
                </a:ext>
              </a:extLst>
            </p:cNvPr>
            <p:cNvSpPr txBox="1"/>
            <p:nvPr/>
          </p:nvSpPr>
          <p:spPr>
            <a:xfrm>
              <a:off x="3756043" y="1123913"/>
              <a:ext cx="7958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</a:t>
              </a:r>
            </a:p>
            <a:p>
              <a:r>
                <a:rPr lang="en-CA" sz="500" dirty="0"/>
                <a:t>agent template + return user intent to orchestrator</a:t>
              </a:r>
              <a:endParaRPr lang="en-US" sz="500" dirty="0"/>
            </a:p>
          </p:txBody>
        </p: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37703512-57BC-8CF1-6DFB-D50B25742BF5}"/>
                </a:ext>
              </a:extLst>
            </p:cNvPr>
            <p:cNvGrpSpPr/>
            <p:nvPr/>
          </p:nvGrpSpPr>
          <p:grpSpPr>
            <a:xfrm>
              <a:off x="8155490" y="354812"/>
              <a:ext cx="581024" cy="599619"/>
              <a:chOff x="689279" y="2932240"/>
              <a:chExt cx="581024" cy="599619"/>
            </a:xfrm>
          </p:grpSpPr>
          <p:pic>
            <p:nvPicPr>
              <p:cNvPr id="248" name="Picture 2" descr="Database - Free technology icons">
                <a:extLst>
                  <a:ext uri="{FF2B5EF4-FFF2-40B4-BE49-F238E27FC236}">
                    <a16:creationId xmlns:a16="http://schemas.microsoft.com/office/drawing/2014/main" id="{06BF0CF0-9AD4-7D43-6DA6-C934033CA4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9279" y="2932240"/>
                <a:ext cx="581024" cy="384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2C71AC06-BD41-4FBE-3D5E-7CB6587CF74F}"/>
                  </a:ext>
                </a:extLst>
              </p:cNvPr>
              <p:cNvSpPr txBox="1"/>
              <p:nvPr/>
            </p:nvSpPr>
            <p:spPr>
              <a:xfrm>
                <a:off x="694296" y="3316415"/>
                <a:ext cx="5709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KG Store</a:t>
                </a:r>
                <a:endParaRPr lang="en-US" sz="800" dirty="0"/>
              </a:p>
            </p:txBody>
          </p:sp>
        </p:grp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F48D5531-0D28-B1E9-A54C-F6BC41FCCAF6}"/>
                </a:ext>
              </a:extLst>
            </p:cNvPr>
            <p:cNvCxnSpPr>
              <a:cxnSpLocks/>
              <a:stCxn id="75" idx="7"/>
            </p:cNvCxnSpPr>
            <p:nvPr/>
          </p:nvCxnSpPr>
          <p:spPr>
            <a:xfrm flipV="1">
              <a:off x="5114966" y="426700"/>
              <a:ext cx="481526" cy="4216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nector: Elbow 291">
              <a:extLst>
                <a:ext uri="{FF2B5EF4-FFF2-40B4-BE49-F238E27FC236}">
                  <a16:creationId xmlns:a16="http://schemas.microsoft.com/office/drawing/2014/main" id="{DF174317-A640-3367-EFBA-56828CE5B300}"/>
                </a:ext>
              </a:extLst>
            </p:cNvPr>
            <p:cNvCxnSpPr>
              <a:stCxn id="83" idx="0"/>
              <a:endCxn id="76" idx="0"/>
            </p:cNvCxnSpPr>
            <p:nvPr/>
          </p:nvCxnSpPr>
          <p:spPr>
            <a:xfrm rot="16200000" flipH="1" flipV="1">
              <a:off x="5033617" y="-660732"/>
              <a:ext cx="3355" cy="1870726"/>
            </a:xfrm>
            <a:prstGeom prst="bentConnector3">
              <a:avLst>
                <a:gd name="adj1" fmla="val -3312221"/>
              </a:avLst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06A2128-15D0-BB52-D21A-29371B90772B}"/>
                </a:ext>
              </a:extLst>
            </p:cNvPr>
            <p:cNvSpPr txBox="1"/>
            <p:nvPr/>
          </p:nvSpPr>
          <p:spPr>
            <a:xfrm>
              <a:off x="4445320" y="8450"/>
              <a:ext cx="118013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HITL modification, defaults provided</a:t>
              </a:r>
              <a:endParaRPr lang="en-US" sz="500" dirty="0"/>
            </a:p>
          </p:txBody>
        </p:sp>
        <p:cxnSp>
          <p:nvCxnSpPr>
            <p:cNvPr id="310" name="Connector: Elbow 309">
              <a:extLst>
                <a:ext uri="{FF2B5EF4-FFF2-40B4-BE49-F238E27FC236}">
                  <a16:creationId xmlns:a16="http://schemas.microsoft.com/office/drawing/2014/main" id="{D5314365-9FB6-76BA-86F2-9F1B1F50BEE5}"/>
                </a:ext>
              </a:extLst>
            </p:cNvPr>
            <p:cNvCxnSpPr>
              <a:cxnSpLocks/>
              <a:stCxn id="15" idx="7"/>
              <a:endCxn id="65" idx="1"/>
            </p:cNvCxnSpPr>
            <p:nvPr/>
          </p:nvCxnSpPr>
          <p:spPr>
            <a:xfrm rot="5400000" flipH="1" flipV="1">
              <a:off x="4663722" y="1413231"/>
              <a:ext cx="864763" cy="1125105"/>
            </a:xfrm>
            <a:prstGeom prst="bentConnector2">
              <a:avLst/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BDBAC2B-C9C4-E429-B664-48F4BCDCFB04}"/>
                </a:ext>
              </a:extLst>
            </p:cNvPr>
            <p:cNvSpPr txBox="1"/>
            <p:nvPr/>
          </p:nvSpPr>
          <p:spPr>
            <a:xfrm>
              <a:off x="4516770" y="1250510"/>
              <a:ext cx="10838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agent template + take user intent + return plan draft to orchestrator</a:t>
              </a:r>
              <a:endParaRPr lang="en-US" sz="500" dirty="0"/>
            </a:p>
          </p:txBody>
        </p:sp>
        <p:cxnSp>
          <p:nvCxnSpPr>
            <p:cNvPr id="328" name="Connector: Elbow 327">
              <a:extLst>
                <a:ext uri="{FF2B5EF4-FFF2-40B4-BE49-F238E27FC236}">
                  <a16:creationId xmlns:a16="http://schemas.microsoft.com/office/drawing/2014/main" id="{B9612C1B-4AAE-D1E1-14B8-14B9E34A6279}"/>
                </a:ext>
              </a:extLst>
            </p:cNvPr>
            <p:cNvCxnSpPr>
              <a:cxnSpLocks/>
              <a:stCxn id="15" idx="7"/>
              <a:endCxn id="117" idx="2"/>
            </p:cNvCxnSpPr>
            <p:nvPr/>
          </p:nvCxnSpPr>
          <p:spPr>
            <a:xfrm rot="5400000" flipH="1" flipV="1">
              <a:off x="5221093" y="963494"/>
              <a:ext cx="757128" cy="2132212"/>
            </a:xfrm>
            <a:prstGeom prst="bentConnector3">
              <a:avLst>
                <a:gd name="adj1" fmla="val 76419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F10E0438-B09B-0029-32B3-3948F688D122}"/>
                </a:ext>
              </a:extLst>
            </p:cNvPr>
            <p:cNvSpPr txBox="1"/>
            <p:nvPr/>
          </p:nvSpPr>
          <p:spPr>
            <a:xfrm>
              <a:off x="4516242" y="1667380"/>
              <a:ext cx="192973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Take plan draft + return validation results to orchestrator</a:t>
              </a:r>
              <a:endParaRPr lang="en-US" sz="500" dirty="0"/>
            </a:p>
          </p:txBody>
        </p:sp>
        <p:cxnSp>
          <p:nvCxnSpPr>
            <p:cNvPr id="333" name="Connector: Elbow 332">
              <a:extLst>
                <a:ext uri="{FF2B5EF4-FFF2-40B4-BE49-F238E27FC236}">
                  <a16:creationId xmlns:a16="http://schemas.microsoft.com/office/drawing/2014/main" id="{F0171B4E-F895-8CA8-ED45-DCD1AD6E3690}"/>
                </a:ext>
              </a:extLst>
            </p:cNvPr>
            <p:cNvCxnSpPr>
              <a:cxnSpLocks/>
              <a:stCxn id="15" idx="7"/>
              <a:endCxn id="67" idx="2"/>
            </p:cNvCxnSpPr>
            <p:nvPr/>
          </p:nvCxnSpPr>
          <p:spPr>
            <a:xfrm rot="5400000" flipH="1" flipV="1">
              <a:off x="5665828" y="523913"/>
              <a:ext cx="751975" cy="3016528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D3B51E24-531B-1E24-9266-6B4B17DCD7F0}"/>
                </a:ext>
              </a:extLst>
            </p:cNvPr>
            <p:cNvSpPr txBox="1"/>
            <p:nvPr/>
          </p:nvSpPr>
          <p:spPr>
            <a:xfrm>
              <a:off x="4523234" y="1852821"/>
              <a:ext cx="267181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Take plan draft, user intent, and validation results + return review outcome to orchestrator </a:t>
              </a:r>
              <a:endParaRPr lang="en-US" sz="5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3E359433-8F70-CC56-6057-BDBDF0970AED}"/>
                </a:ext>
              </a:extLst>
            </p:cNvPr>
            <p:cNvSpPr txBox="1"/>
            <p:nvPr/>
          </p:nvSpPr>
          <p:spPr>
            <a:xfrm>
              <a:off x="7368347" y="942274"/>
              <a:ext cx="732893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>
                  <a:solidFill>
                    <a:schemeClr val="accent2">
                      <a:lumMod val="20000"/>
                      <a:lumOff val="80000"/>
                    </a:schemeClr>
                  </a:solidFill>
                </a:rPr>
                <a:t>Planner-review loop</a:t>
              </a:r>
              <a:endParaRPr lang="en-US" sz="500" dirty="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352" name="Straight Arrow Connector 351">
              <a:extLst>
                <a:ext uri="{FF2B5EF4-FFF2-40B4-BE49-F238E27FC236}">
                  <a16:creationId xmlns:a16="http://schemas.microsoft.com/office/drawing/2014/main" id="{B5DC6A42-5730-3866-CD73-2FD9F4AFF9C9}"/>
                </a:ext>
              </a:extLst>
            </p:cNvPr>
            <p:cNvCxnSpPr>
              <a:stCxn id="15" idx="6"/>
            </p:cNvCxnSpPr>
            <p:nvPr/>
          </p:nvCxnSpPr>
          <p:spPr>
            <a:xfrm>
              <a:off x="4565835" y="2486104"/>
              <a:ext cx="1370354" cy="0"/>
            </a:xfrm>
            <a:prstGeom prst="straightConnector1">
              <a:avLst/>
            </a:prstGeom>
            <a:ln>
              <a:solidFill>
                <a:schemeClr val="accent2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4" name="Connector: Elbow 353">
              <a:extLst>
                <a:ext uri="{FF2B5EF4-FFF2-40B4-BE49-F238E27FC236}">
                  <a16:creationId xmlns:a16="http://schemas.microsoft.com/office/drawing/2014/main" id="{055BB0BC-3187-802C-0B0C-5551165D542C}"/>
                </a:ext>
              </a:extLst>
            </p:cNvPr>
            <p:cNvCxnSpPr/>
            <p:nvPr/>
          </p:nvCxnSpPr>
          <p:spPr>
            <a:xfrm rot="10800000">
              <a:off x="5186890" y="2486105"/>
              <a:ext cx="1666875" cy="241221"/>
            </a:xfrm>
            <a:prstGeom prst="bentConnector3">
              <a:avLst>
                <a:gd name="adj1" fmla="val 100095"/>
              </a:avLst>
            </a:prstGeom>
            <a:ln>
              <a:solidFill>
                <a:schemeClr val="accent2"/>
              </a:solidFill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B7D7EFE3-5F23-64EB-F159-824C490B2DE4}"/>
                </a:ext>
              </a:extLst>
            </p:cNvPr>
            <p:cNvSpPr txBox="1"/>
            <p:nvPr/>
          </p:nvSpPr>
          <p:spPr>
            <a:xfrm>
              <a:off x="7317099" y="2702967"/>
              <a:ext cx="5613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Retrieval loop</a:t>
              </a:r>
              <a:endParaRPr lang="en-US" sz="500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EA47115E-645C-9D64-CA2C-A57B1950A8F8}"/>
                </a:ext>
              </a:extLst>
            </p:cNvPr>
            <p:cNvSpPr txBox="1"/>
            <p:nvPr/>
          </p:nvSpPr>
          <p:spPr>
            <a:xfrm>
              <a:off x="4501678" y="2292671"/>
              <a:ext cx="192973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Take plan + return sufficiency score to orchestrator</a:t>
              </a:r>
              <a:endParaRPr lang="en-US" sz="500" dirty="0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146C7FBF-7EC6-6AEF-370C-3304D184913B}"/>
                </a:ext>
              </a:extLst>
            </p:cNvPr>
            <p:cNvSpPr txBox="1"/>
            <p:nvPr/>
          </p:nvSpPr>
          <p:spPr>
            <a:xfrm>
              <a:off x="5306789" y="2753527"/>
              <a:ext cx="192973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agent template + run retrieval</a:t>
              </a:r>
              <a:endParaRPr lang="en-US" sz="500" dirty="0"/>
            </a:p>
          </p:txBody>
        </p: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151C6F3A-D6E9-B99E-32B4-62C01CA68E2A}"/>
                </a:ext>
              </a:extLst>
            </p:cNvPr>
            <p:cNvGrpSpPr/>
            <p:nvPr/>
          </p:nvGrpSpPr>
          <p:grpSpPr>
            <a:xfrm>
              <a:off x="7824216" y="2194949"/>
              <a:ext cx="652784" cy="816644"/>
              <a:chOff x="7883684" y="1936257"/>
              <a:chExt cx="652784" cy="816644"/>
            </a:xfrm>
          </p:grpSpPr>
          <p:pic>
            <p:nvPicPr>
              <p:cNvPr id="361" name="Graphic 360" descr="Social network outline">
                <a:extLst>
                  <a:ext uri="{FF2B5EF4-FFF2-40B4-BE49-F238E27FC236}">
                    <a16:creationId xmlns:a16="http://schemas.microsoft.com/office/drawing/2014/main" id="{371AA4F9-A19E-22C2-60DB-7872544E3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883684" y="1936257"/>
                <a:ext cx="652784" cy="652784"/>
              </a:xfrm>
              <a:prstGeom prst="rect">
                <a:avLst/>
              </a:prstGeom>
            </p:spPr>
          </p:pic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F251A36F-A5A0-8C3D-A92D-02BF310006F1}"/>
                  </a:ext>
                </a:extLst>
              </p:cNvPr>
              <p:cNvSpPr txBox="1"/>
              <p:nvPr/>
            </p:nvSpPr>
            <p:spPr>
              <a:xfrm>
                <a:off x="8015952" y="2537457"/>
                <a:ext cx="3882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Web</a:t>
                </a:r>
                <a:endParaRPr lang="en-US" sz="800" dirty="0"/>
              </a:p>
            </p:txBody>
          </p:sp>
        </p:grp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BC7420C8-639C-7903-05BB-DFBA62F583B8}"/>
                </a:ext>
              </a:extLst>
            </p:cNvPr>
            <p:cNvCxnSpPr>
              <a:cxnSpLocks/>
            </p:cNvCxnSpPr>
            <p:nvPr/>
          </p:nvCxnSpPr>
          <p:spPr>
            <a:xfrm>
              <a:off x="6991127" y="2476814"/>
              <a:ext cx="850164" cy="0"/>
            </a:xfrm>
            <a:prstGeom prst="straightConnector1">
              <a:avLst/>
            </a:prstGeom>
            <a:ln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B909AEA4-36A6-6319-6F22-178A6C871AA4}"/>
                </a:ext>
              </a:extLst>
            </p:cNvPr>
            <p:cNvSpPr txBox="1"/>
            <p:nvPr/>
          </p:nvSpPr>
          <p:spPr>
            <a:xfrm>
              <a:off x="6930543" y="2296017"/>
              <a:ext cx="888385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External retrieval via tools</a:t>
              </a:r>
              <a:endParaRPr lang="en-US" sz="500" dirty="0"/>
            </a:p>
          </p:txBody>
        </p:sp>
        <p:cxnSp>
          <p:nvCxnSpPr>
            <p:cNvPr id="369" name="Connector: Elbow 368">
              <a:extLst>
                <a:ext uri="{FF2B5EF4-FFF2-40B4-BE49-F238E27FC236}">
                  <a16:creationId xmlns:a16="http://schemas.microsoft.com/office/drawing/2014/main" id="{3DF82079-0FC3-9956-3CAC-B5EB4F909B1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953309" y="896742"/>
              <a:ext cx="1352800" cy="1542718"/>
            </a:xfrm>
            <a:prstGeom prst="bentConnector3">
              <a:avLst>
                <a:gd name="adj1" fmla="val 10570"/>
              </a:avLst>
            </a:prstGeom>
            <a:ln>
              <a:solidFill>
                <a:schemeClr val="accent1"/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6" name="Connector: Elbow 375">
              <a:extLst>
                <a:ext uri="{FF2B5EF4-FFF2-40B4-BE49-F238E27FC236}">
                  <a16:creationId xmlns:a16="http://schemas.microsoft.com/office/drawing/2014/main" id="{E5F63530-3E8B-5095-A626-09C9CB55F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4113" y="995532"/>
              <a:ext cx="2136976" cy="1124034"/>
            </a:xfrm>
            <a:prstGeom prst="bentConnector3">
              <a:avLst>
                <a:gd name="adj1" fmla="val 99921"/>
              </a:avLst>
            </a:prstGeom>
            <a:ln>
              <a:solidFill>
                <a:schemeClr val="accent1"/>
              </a:solidFill>
              <a:prstDash val="sys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6CB8E5D2-2B15-8CBB-C607-9497B415318D}"/>
                </a:ext>
              </a:extLst>
            </p:cNvPr>
            <p:cNvCxnSpPr/>
            <p:nvPr/>
          </p:nvCxnSpPr>
          <p:spPr>
            <a:xfrm>
              <a:off x="6174113" y="2119566"/>
              <a:ext cx="0" cy="220032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CCE26E8-882D-692E-957C-79C341BE2514}"/>
                </a:ext>
              </a:extLst>
            </p:cNvPr>
            <p:cNvSpPr/>
            <p:nvPr/>
          </p:nvSpPr>
          <p:spPr>
            <a:xfrm>
              <a:off x="5697890" y="3468394"/>
              <a:ext cx="2319364" cy="474306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32A704AE-645E-EC9C-ABBE-01D189589B96}"/>
                </a:ext>
              </a:extLst>
            </p:cNvPr>
            <p:cNvSpPr txBox="1"/>
            <p:nvPr/>
          </p:nvSpPr>
          <p:spPr>
            <a:xfrm>
              <a:off x="8221486" y="3805608"/>
              <a:ext cx="57099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Reviewer loop</a:t>
              </a:r>
              <a:endParaRPr lang="en-US" sz="5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394" name="Connector: Elbow 393">
              <a:extLst>
                <a:ext uri="{FF2B5EF4-FFF2-40B4-BE49-F238E27FC236}">
                  <a16:creationId xmlns:a16="http://schemas.microsoft.com/office/drawing/2014/main" id="{76723B8D-DA8F-84C1-CE4B-01F8915DF6C8}"/>
                </a:ext>
              </a:extLst>
            </p:cNvPr>
            <p:cNvCxnSpPr>
              <a:cxnSpLocks/>
              <a:stCxn id="15" idx="5"/>
              <a:endCxn id="72" idx="2"/>
            </p:cNvCxnSpPr>
            <p:nvPr/>
          </p:nvCxnSpPr>
          <p:spPr>
            <a:xfrm rot="16200000" flipH="1">
              <a:off x="4685410" y="2412183"/>
              <a:ext cx="1073868" cy="1377587"/>
            </a:xfrm>
            <a:prstGeom prst="bentConnector2">
              <a:avLst/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8" name="Straight Arrow Connector 407">
              <a:extLst>
                <a:ext uri="{FF2B5EF4-FFF2-40B4-BE49-F238E27FC236}">
                  <a16:creationId xmlns:a16="http://schemas.microsoft.com/office/drawing/2014/main" id="{00F9B462-34D1-5FB8-D115-7BBF2738E2AD}"/>
                </a:ext>
              </a:extLst>
            </p:cNvPr>
            <p:cNvCxnSpPr>
              <a:cxnSpLocks/>
              <a:stCxn id="122" idx="0"/>
              <a:endCxn id="69" idx="2"/>
            </p:cNvCxnSpPr>
            <p:nvPr/>
          </p:nvCxnSpPr>
          <p:spPr>
            <a:xfrm flipH="1" flipV="1">
              <a:off x="7566857" y="3941865"/>
              <a:ext cx="447" cy="99498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Connector: Elbow 419">
              <a:extLst>
                <a:ext uri="{FF2B5EF4-FFF2-40B4-BE49-F238E27FC236}">
                  <a16:creationId xmlns:a16="http://schemas.microsoft.com/office/drawing/2014/main" id="{F0B80BED-4818-7638-541C-DD27162FDEB8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rot="16200000" flipV="1">
              <a:off x="4318908" y="2957471"/>
              <a:ext cx="963833" cy="690425"/>
            </a:xfrm>
            <a:prstGeom prst="bentConnector3">
              <a:avLst>
                <a:gd name="adj1" fmla="val 388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Connector: Elbow 422">
              <a:extLst>
                <a:ext uri="{FF2B5EF4-FFF2-40B4-BE49-F238E27FC236}">
                  <a16:creationId xmlns:a16="http://schemas.microsoft.com/office/drawing/2014/main" id="{696F66E6-0873-0015-4061-B74256384607}"/>
                </a:ext>
              </a:extLst>
            </p:cNvPr>
            <p:cNvCxnSpPr>
              <a:cxnSpLocks/>
              <a:endCxn id="122" idx="1"/>
            </p:cNvCxnSpPr>
            <p:nvPr/>
          </p:nvCxnSpPr>
          <p:spPr>
            <a:xfrm>
              <a:off x="5132200" y="3764924"/>
              <a:ext cx="1972622" cy="351635"/>
            </a:xfrm>
            <a:prstGeom prst="bentConnector3">
              <a:avLst>
                <a:gd name="adj1" fmla="val 587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Connector: Elbow 426">
              <a:extLst>
                <a:ext uri="{FF2B5EF4-FFF2-40B4-BE49-F238E27FC236}">
                  <a16:creationId xmlns:a16="http://schemas.microsoft.com/office/drawing/2014/main" id="{E10264D8-A809-0ED3-142F-1D76D53AE2E0}"/>
                </a:ext>
              </a:extLst>
            </p:cNvPr>
            <p:cNvCxnSpPr>
              <a:cxnSpLocks/>
              <a:stCxn id="15" idx="5"/>
              <a:endCxn id="118" idx="0"/>
            </p:cNvCxnSpPr>
            <p:nvPr/>
          </p:nvCxnSpPr>
          <p:spPr>
            <a:xfrm rot="16200000" flipH="1">
              <a:off x="5133116" y="1964477"/>
              <a:ext cx="963644" cy="2162775"/>
            </a:xfrm>
            <a:prstGeom prst="bentConnector3">
              <a:avLst>
                <a:gd name="adj1" fmla="val 75370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4" name="Connector: Elbow 433">
              <a:extLst>
                <a:ext uri="{FF2B5EF4-FFF2-40B4-BE49-F238E27FC236}">
                  <a16:creationId xmlns:a16="http://schemas.microsoft.com/office/drawing/2014/main" id="{DF58211A-66B8-5729-6649-DF25DF56E0D3}"/>
                </a:ext>
              </a:extLst>
            </p:cNvPr>
            <p:cNvCxnSpPr>
              <a:cxnSpLocks/>
              <a:stCxn id="15" idx="5"/>
              <a:endCxn id="70" idx="0"/>
            </p:cNvCxnSpPr>
            <p:nvPr/>
          </p:nvCxnSpPr>
          <p:spPr>
            <a:xfrm rot="16200000" flipH="1">
              <a:off x="5568382" y="1529212"/>
              <a:ext cx="963645" cy="3033306"/>
            </a:xfrm>
            <a:prstGeom prst="bentConnector3">
              <a:avLst>
                <a:gd name="adj1" fmla="val 57578"/>
              </a:avLst>
            </a:prstGeom>
            <a:ln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2AB6797-56D3-AFED-CC46-6C94752F931E}"/>
                </a:ext>
              </a:extLst>
            </p:cNvPr>
            <p:cNvGrpSpPr/>
            <p:nvPr/>
          </p:nvGrpSpPr>
          <p:grpSpPr>
            <a:xfrm>
              <a:off x="4078745" y="2375880"/>
              <a:ext cx="753732" cy="444887"/>
              <a:chOff x="4764483" y="1857818"/>
              <a:chExt cx="753732" cy="44488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4AD89-6B00-FD0A-7231-E388B8E2D46C}"/>
                  </a:ext>
                </a:extLst>
              </p:cNvPr>
              <p:cNvSpPr txBox="1"/>
              <p:nvPr/>
            </p:nvSpPr>
            <p:spPr>
              <a:xfrm>
                <a:off x="4764483" y="2087261"/>
                <a:ext cx="7537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800" dirty="0"/>
                  <a:t>Orchestrator</a:t>
                </a:r>
                <a:endParaRPr lang="en-US" sz="800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1E7F384-B909-49E7-A8C7-A9069649268D}"/>
                  </a:ext>
                </a:extLst>
              </p:cNvPr>
              <p:cNvSpPr/>
              <p:nvPr/>
            </p:nvSpPr>
            <p:spPr>
              <a:xfrm>
                <a:off x="5031126" y="1857818"/>
                <a:ext cx="220447" cy="220447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9804B7-B2A3-10FC-3CA6-6637AF4E6048}"/>
                </a:ext>
              </a:extLst>
            </p:cNvPr>
            <p:cNvSpPr txBox="1"/>
            <p:nvPr/>
          </p:nvSpPr>
          <p:spPr>
            <a:xfrm>
              <a:off x="4477235" y="3143635"/>
              <a:ext cx="189710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Take outline draft + return validation results to orchestrator</a:t>
              </a:r>
              <a:endParaRPr lang="en-US" sz="5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350452-9313-1DBB-9596-DC7803C39E93}"/>
                </a:ext>
              </a:extLst>
            </p:cNvPr>
            <p:cNvSpPr txBox="1"/>
            <p:nvPr/>
          </p:nvSpPr>
          <p:spPr>
            <a:xfrm>
              <a:off x="4477235" y="2967913"/>
              <a:ext cx="396510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Instantiate from agent template + take outline draft, user intent, KG evidence, and validation results + return review outcome to orchestrator </a:t>
              </a:r>
              <a:endParaRPr lang="en-US" sz="5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395E5AF-9445-7880-D719-9A53BC69BCA5}"/>
                </a:ext>
              </a:extLst>
            </p:cNvPr>
            <p:cNvSpPr txBox="1"/>
            <p:nvPr/>
          </p:nvSpPr>
          <p:spPr>
            <a:xfrm>
              <a:off x="7550080" y="1958851"/>
              <a:ext cx="79861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Check completeness</a:t>
              </a:r>
              <a:endParaRPr lang="en-US" sz="5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D7F84D3-5C3A-F77F-E9FE-C1FE4B2F2CFD}"/>
                </a:ext>
              </a:extLst>
            </p:cNvPr>
            <p:cNvSpPr txBox="1"/>
            <p:nvPr/>
          </p:nvSpPr>
          <p:spPr>
            <a:xfrm>
              <a:off x="7550080" y="2174647"/>
              <a:ext cx="83067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Store external sources</a:t>
              </a:r>
              <a:endParaRPr lang="en-US" sz="500" dirty="0"/>
            </a:p>
          </p:txBody>
        </p: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DB816F24-AD10-8043-840C-FB6B384F8B53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rot="5400000" flipH="1" flipV="1">
              <a:off x="5996178" y="1016885"/>
              <a:ext cx="2535986" cy="2485619"/>
            </a:xfrm>
            <a:prstGeom prst="bentConnector3">
              <a:avLst>
                <a:gd name="adj1" fmla="val 7307"/>
              </a:avLst>
            </a:prstGeom>
            <a:ln>
              <a:solidFill>
                <a:schemeClr val="accent1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DABD5501-0318-29F0-11B5-E5CD371564B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837064" y="1809490"/>
              <a:ext cx="2568270" cy="932692"/>
            </a:xfrm>
            <a:prstGeom prst="bentConnector3">
              <a:avLst>
                <a:gd name="adj1" fmla="val 5743"/>
              </a:avLst>
            </a:prstGeom>
            <a:ln>
              <a:solidFill>
                <a:schemeClr val="accent1"/>
              </a:solidFill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8C77727-9EE8-0C72-4761-C4C36E8DC843}"/>
                </a:ext>
              </a:extLst>
            </p:cNvPr>
            <p:cNvSpPr txBox="1"/>
            <p:nvPr/>
          </p:nvSpPr>
          <p:spPr>
            <a:xfrm>
              <a:off x="7550080" y="3194439"/>
              <a:ext cx="93968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Query  claims and evidence</a:t>
              </a:r>
              <a:endParaRPr lang="en-US" sz="5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CBF140F-F770-9C14-D6EF-784849EBCF55}"/>
                </a:ext>
              </a:extLst>
            </p:cNvPr>
            <p:cNvSpPr txBox="1"/>
            <p:nvPr/>
          </p:nvSpPr>
          <p:spPr>
            <a:xfrm>
              <a:off x="7972355" y="3390494"/>
              <a:ext cx="93968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Query  claims and evidence</a:t>
              </a:r>
              <a:endParaRPr lang="en-US" sz="500" dirty="0"/>
            </a:p>
          </p:txBody>
        </p:sp>
        <p:sp>
          <p:nvSpPr>
            <p:cNvPr id="96" name="L4">
              <a:extLst>
                <a:ext uri="{FF2B5EF4-FFF2-40B4-BE49-F238E27FC236}">
                  <a16:creationId xmlns:a16="http://schemas.microsoft.com/office/drawing/2014/main" id="{045C3DF3-60F5-E0A3-0FBA-61CC4A425AB4}"/>
                </a:ext>
              </a:extLst>
            </p:cNvPr>
            <p:cNvSpPr/>
            <p:nvPr/>
          </p:nvSpPr>
          <p:spPr>
            <a:xfrm>
              <a:off x="8155490" y="4198858"/>
              <a:ext cx="780921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US" sz="800" dirty="0"/>
                <a:t>User</a:t>
              </a:r>
            </a:p>
          </p:txBody>
        </p:sp>
        <p:sp>
          <p:nvSpPr>
            <p:cNvPr id="99" name="L4">
              <a:extLst>
                <a:ext uri="{FF2B5EF4-FFF2-40B4-BE49-F238E27FC236}">
                  <a16:creationId xmlns:a16="http://schemas.microsoft.com/office/drawing/2014/main" id="{74FA7CFC-317C-E50E-56FD-8E1D5B79FECC}"/>
                </a:ext>
              </a:extLst>
            </p:cNvPr>
            <p:cNvSpPr/>
            <p:nvPr/>
          </p:nvSpPr>
          <p:spPr>
            <a:xfrm>
              <a:off x="7104822" y="4348992"/>
              <a:ext cx="924964" cy="15039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anchor="ctr"/>
            <a:lstStyle/>
            <a:p>
              <a:pPr algn="ctr"/>
              <a:r>
                <a:rPr lang="en-CA" sz="800" dirty="0"/>
                <a:t>User feedback</a:t>
              </a:r>
              <a:endParaRPr lang="en-US" sz="800" dirty="0"/>
            </a:p>
          </p:txBody>
        </p: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146700FE-626B-3CEE-5531-A17D7D24ACD4}"/>
                </a:ext>
              </a:extLst>
            </p:cNvPr>
            <p:cNvCxnSpPr>
              <a:cxnSpLocks/>
              <a:endCxn id="99" idx="1"/>
            </p:cNvCxnSpPr>
            <p:nvPr/>
          </p:nvCxnSpPr>
          <p:spPr>
            <a:xfrm>
              <a:off x="5147250" y="4071722"/>
              <a:ext cx="1957572" cy="352466"/>
            </a:xfrm>
            <a:prstGeom prst="bentConnector3">
              <a:avLst>
                <a:gd name="adj1" fmla="val -279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1E4FAA35-C0F7-05D7-E718-520F7299BBD1}"/>
                </a:ext>
              </a:extLst>
            </p:cNvPr>
            <p:cNvCxnSpPr>
              <a:stCxn id="122" idx="3"/>
              <a:endCxn id="96" idx="0"/>
            </p:cNvCxnSpPr>
            <p:nvPr/>
          </p:nvCxnSpPr>
          <p:spPr>
            <a:xfrm>
              <a:off x="8029786" y="4116559"/>
              <a:ext cx="516165" cy="82299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Elbow 115">
              <a:extLst>
                <a:ext uri="{FF2B5EF4-FFF2-40B4-BE49-F238E27FC236}">
                  <a16:creationId xmlns:a16="http://schemas.microsoft.com/office/drawing/2014/main" id="{9744BFE2-F58C-18BD-73E2-2328800356B4}"/>
                </a:ext>
              </a:extLst>
            </p:cNvPr>
            <p:cNvCxnSpPr>
              <a:cxnSpLocks/>
              <a:stCxn id="96" idx="2"/>
              <a:endCxn id="99" idx="3"/>
            </p:cNvCxnSpPr>
            <p:nvPr/>
          </p:nvCxnSpPr>
          <p:spPr>
            <a:xfrm rot="5400000">
              <a:off x="8250400" y="4128636"/>
              <a:ext cx="74939" cy="51616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097ABC6-9027-E33E-920E-7A5750A19A48}"/>
                </a:ext>
              </a:extLst>
            </p:cNvPr>
            <p:cNvSpPr txBox="1"/>
            <p:nvPr/>
          </p:nvSpPr>
          <p:spPr>
            <a:xfrm>
              <a:off x="1781948" y="933144"/>
              <a:ext cx="819455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Store as relational data</a:t>
              </a:r>
              <a:endParaRPr lang="en-US" sz="500" dirty="0"/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2B4592E8-1C44-7FC8-497D-59738F4DFB1E}"/>
                </a:ext>
              </a:extLst>
            </p:cNvPr>
            <p:cNvCxnSpPr>
              <a:cxnSpLocks/>
              <a:stCxn id="38" idx="2"/>
              <a:endCxn id="44" idx="0"/>
            </p:cNvCxnSpPr>
            <p:nvPr/>
          </p:nvCxnSpPr>
          <p:spPr>
            <a:xfrm flipH="1">
              <a:off x="2760701" y="1928584"/>
              <a:ext cx="1" cy="306593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2F96A53-0351-CE08-EC8C-500CE82B25CA}"/>
                </a:ext>
              </a:extLst>
            </p:cNvPr>
            <p:cNvSpPr txBox="1"/>
            <p:nvPr/>
          </p:nvSpPr>
          <p:spPr>
            <a:xfrm>
              <a:off x="2726695" y="1939801"/>
              <a:ext cx="83782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Query events and signals + store profile summary in the DB </a:t>
              </a:r>
              <a:endParaRPr lang="en-US" sz="5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ACBD69A-BC3F-D0BB-041F-C1F11CABF5B3}"/>
                </a:ext>
              </a:extLst>
            </p:cNvPr>
            <p:cNvSpPr txBox="1"/>
            <p:nvPr/>
          </p:nvSpPr>
          <p:spPr>
            <a:xfrm>
              <a:off x="1832170" y="1416511"/>
              <a:ext cx="80663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Store all embeddings </a:t>
              </a:r>
              <a:endParaRPr lang="en-US" sz="500" dirty="0"/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840E933F-348D-B312-D3E4-FEBFF98E5B7F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889349" y="1606584"/>
              <a:ext cx="5449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C9B126AA-7389-092B-CEC3-65997261DA95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>
              <a:off x="2232242" y="3250841"/>
              <a:ext cx="4538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: Elbow 187">
              <a:extLst>
                <a:ext uri="{FF2B5EF4-FFF2-40B4-BE49-F238E27FC236}">
                  <a16:creationId xmlns:a16="http://schemas.microsoft.com/office/drawing/2014/main" id="{5B43354B-4698-D5FF-952F-CD941B7ABA80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1792667" y="1898650"/>
              <a:ext cx="773964" cy="236586"/>
            </a:xfrm>
            <a:prstGeom prst="bentConnector3">
              <a:avLst>
                <a:gd name="adj1" fmla="val 10004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: Elbow 213">
              <a:extLst>
                <a:ext uri="{FF2B5EF4-FFF2-40B4-BE49-F238E27FC236}">
                  <a16:creationId xmlns:a16="http://schemas.microsoft.com/office/drawing/2014/main" id="{2573811E-21DD-95AE-C88A-80AA8AD158DE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1743527" y="1077933"/>
              <a:ext cx="811463" cy="236586"/>
            </a:xfrm>
            <a:prstGeom prst="bentConnector3">
              <a:avLst>
                <a:gd name="adj1" fmla="val 9969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: Elbow 235">
              <a:extLst>
                <a:ext uri="{FF2B5EF4-FFF2-40B4-BE49-F238E27FC236}">
                  <a16:creationId xmlns:a16="http://schemas.microsoft.com/office/drawing/2014/main" id="{B41F5DD5-F417-6040-997C-56DE361E73AA}"/>
                </a:ext>
              </a:extLst>
            </p:cNvPr>
            <p:cNvCxnSpPr>
              <a:cxnSpLocks/>
              <a:stCxn id="75" idx="2"/>
            </p:cNvCxnSpPr>
            <p:nvPr/>
          </p:nvCxnSpPr>
          <p:spPr>
            <a:xfrm rot="10800000" flipV="1">
              <a:off x="3047839" y="926294"/>
              <a:ext cx="1878965" cy="483898"/>
            </a:xfrm>
            <a:prstGeom prst="bentConnector3">
              <a:avLst>
                <a:gd name="adj1" fmla="val 81317"/>
              </a:avLst>
            </a:prstGeom>
            <a:ln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B7281156-D3CA-3D57-3EDC-DB283B323B99}"/>
                </a:ext>
              </a:extLst>
            </p:cNvPr>
            <p:cNvSpPr txBox="1"/>
            <p:nvPr/>
          </p:nvSpPr>
          <p:spPr>
            <a:xfrm>
              <a:off x="3583287" y="730191"/>
              <a:ext cx="809837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Query profile summary</a:t>
              </a:r>
              <a:endParaRPr lang="en-US" sz="500" dirty="0"/>
            </a:p>
          </p:txBody>
        </p: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61882A18-9FF1-F980-1956-285617379302}"/>
                </a:ext>
              </a:extLst>
            </p:cNvPr>
            <p:cNvGrpSpPr/>
            <p:nvPr/>
          </p:nvGrpSpPr>
          <p:grpSpPr>
            <a:xfrm>
              <a:off x="3966941" y="3898969"/>
              <a:ext cx="2770749" cy="1184197"/>
              <a:chOff x="4170839" y="3907909"/>
              <a:chExt cx="2770749" cy="1184197"/>
            </a:xfrm>
          </p:grpSpPr>
          <p:sp>
            <p:nvSpPr>
              <p:cNvPr id="282" name="L4">
                <a:extLst>
                  <a:ext uri="{FF2B5EF4-FFF2-40B4-BE49-F238E27FC236}">
                    <a16:creationId xmlns:a16="http://schemas.microsoft.com/office/drawing/2014/main" id="{5C03D3DC-AC58-72D3-0C93-12C6B388DE80}"/>
                  </a:ext>
                </a:extLst>
              </p:cNvPr>
              <p:cNvSpPr/>
              <p:nvPr/>
            </p:nvSpPr>
            <p:spPr>
              <a:xfrm>
                <a:off x="4228428" y="3907909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Skill registry</a:t>
                </a:r>
              </a:p>
            </p:txBody>
          </p:sp>
          <p:sp>
            <p:nvSpPr>
              <p:cNvPr id="283" name="L4">
                <a:extLst>
                  <a:ext uri="{FF2B5EF4-FFF2-40B4-BE49-F238E27FC236}">
                    <a16:creationId xmlns:a16="http://schemas.microsoft.com/office/drawing/2014/main" id="{50F03C29-6781-CCCB-574B-EA949B4F7F49}"/>
                  </a:ext>
                </a:extLst>
              </p:cNvPr>
              <p:cNvSpPr/>
              <p:nvPr/>
            </p:nvSpPr>
            <p:spPr>
              <a:xfrm>
                <a:off x="4170839" y="4288851"/>
                <a:ext cx="896098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Agent template</a:t>
                </a:r>
              </a:p>
            </p:txBody>
          </p:sp>
          <p:sp>
            <p:nvSpPr>
              <p:cNvPr id="284" name="L4">
                <a:extLst>
                  <a:ext uri="{FF2B5EF4-FFF2-40B4-BE49-F238E27FC236}">
                    <a16:creationId xmlns:a16="http://schemas.microsoft.com/office/drawing/2014/main" id="{72D507CA-A8E5-374A-79F3-549331F79C8D}"/>
                  </a:ext>
                </a:extLst>
              </p:cNvPr>
              <p:cNvSpPr/>
              <p:nvPr/>
            </p:nvSpPr>
            <p:spPr>
              <a:xfrm>
                <a:off x="4228428" y="4653953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Tool layer</a:t>
                </a:r>
              </a:p>
            </p:txBody>
          </p:sp>
          <p:sp>
            <p:nvSpPr>
              <p:cNvPr id="285" name="L4">
                <a:extLst>
                  <a:ext uri="{FF2B5EF4-FFF2-40B4-BE49-F238E27FC236}">
                    <a16:creationId xmlns:a16="http://schemas.microsoft.com/office/drawing/2014/main" id="{F1AB7D6B-96A2-3F5C-8DEB-CF8A477B44A7}"/>
                  </a:ext>
                </a:extLst>
              </p:cNvPr>
              <p:cNvSpPr/>
              <p:nvPr/>
            </p:nvSpPr>
            <p:spPr>
              <a:xfrm>
                <a:off x="6160667" y="4551948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MCP server</a:t>
                </a:r>
              </a:p>
            </p:txBody>
          </p:sp>
          <p:sp>
            <p:nvSpPr>
              <p:cNvPr id="286" name="L4">
                <a:extLst>
                  <a:ext uri="{FF2B5EF4-FFF2-40B4-BE49-F238E27FC236}">
                    <a16:creationId xmlns:a16="http://schemas.microsoft.com/office/drawing/2014/main" id="{F51CD8BC-7065-09B9-AF9A-7437D1857E64}"/>
                  </a:ext>
                </a:extLst>
              </p:cNvPr>
              <p:cNvSpPr/>
              <p:nvPr/>
            </p:nvSpPr>
            <p:spPr>
              <a:xfrm>
                <a:off x="5188964" y="4768061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Script tool</a:t>
                </a:r>
              </a:p>
            </p:txBody>
          </p:sp>
          <p:sp>
            <p:nvSpPr>
              <p:cNvPr id="288" name="L4">
                <a:extLst>
                  <a:ext uri="{FF2B5EF4-FFF2-40B4-BE49-F238E27FC236}">
                    <a16:creationId xmlns:a16="http://schemas.microsoft.com/office/drawing/2014/main" id="{114838A5-2A3A-FE0A-7942-41A6A01BA9AF}"/>
                  </a:ext>
                </a:extLst>
              </p:cNvPr>
              <p:cNvSpPr/>
              <p:nvPr/>
            </p:nvSpPr>
            <p:spPr>
              <a:xfrm>
                <a:off x="5188964" y="4551948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MCP client</a:t>
                </a:r>
              </a:p>
            </p:txBody>
          </p: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9670D880-BAFD-1EE8-0FE6-1D55617FA0BD}"/>
                  </a:ext>
                </a:extLst>
              </p:cNvPr>
              <p:cNvCxnSpPr/>
              <p:nvPr/>
            </p:nvCxnSpPr>
            <p:spPr>
              <a:xfrm flipV="1">
                <a:off x="5006587" y="4687143"/>
                <a:ext cx="185139" cy="3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>
                <a:extLst>
                  <a:ext uri="{FF2B5EF4-FFF2-40B4-BE49-F238E27FC236}">
                    <a16:creationId xmlns:a16="http://schemas.microsoft.com/office/drawing/2014/main" id="{0574037D-879A-D140-E4CB-BF0C3102CF42}"/>
                  </a:ext>
                </a:extLst>
              </p:cNvPr>
              <p:cNvCxnSpPr/>
              <p:nvPr/>
            </p:nvCxnSpPr>
            <p:spPr>
              <a:xfrm flipV="1">
                <a:off x="5006586" y="4780761"/>
                <a:ext cx="185139" cy="3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>
                <a:extLst>
                  <a:ext uri="{FF2B5EF4-FFF2-40B4-BE49-F238E27FC236}">
                    <a16:creationId xmlns:a16="http://schemas.microsoft.com/office/drawing/2014/main" id="{8D7C2B2C-7476-071F-0330-F5B6630803DE}"/>
                  </a:ext>
                </a:extLst>
              </p:cNvPr>
              <p:cNvCxnSpPr>
                <a:cxnSpLocks/>
                <a:stCxn id="288" idx="3"/>
                <a:endCxn id="285" idx="1"/>
              </p:cNvCxnSpPr>
              <p:nvPr/>
            </p:nvCxnSpPr>
            <p:spPr>
              <a:xfrm>
                <a:off x="5969885" y="4627144"/>
                <a:ext cx="19078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EAAA5A34-6459-2A9C-0572-0AD3D0F5813E}"/>
                  </a:ext>
                </a:extLst>
              </p:cNvPr>
              <p:cNvCxnSpPr>
                <a:cxnSpLocks/>
                <a:stCxn id="283" idx="0"/>
                <a:endCxn id="282" idx="2"/>
              </p:cNvCxnSpPr>
              <p:nvPr/>
            </p:nvCxnSpPr>
            <p:spPr>
              <a:xfrm flipV="1">
                <a:off x="4618888" y="4058300"/>
                <a:ext cx="1" cy="2305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>
                <a:extLst>
                  <a:ext uri="{FF2B5EF4-FFF2-40B4-BE49-F238E27FC236}">
                    <a16:creationId xmlns:a16="http://schemas.microsoft.com/office/drawing/2014/main" id="{B252A806-3745-EE90-97CF-C98347D68BC0}"/>
                  </a:ext>
                </a:extLst>
              </p:cNvPr>
              <p:cNvCxnSpPr>
                <a:cxnSpLocks/>
                <a:stCxn id="284" idx="0"/>
                <a:endCxn id="283" idx="2"/>
              </p:cNvCxnSpPr>
              <p:nvPr/>
            </p:nvCxnSpPr>
            <p:spPr>
              <a:xfrm flipH="1" flipV="1">
                <a:off x="4618888" y="4439242"/>
                <a:ext cx="1" cy="2147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L4">
                <a:extLst>
                  <a:ext uri="{FF2B5EF4-FFF2-40B4-BE49-F238E27FC236}">
                    <a16:creationId xmlns:a16="http://schemas.microsoft.com/office/drawing/2014/main" id="{296497B8-4511-8C29-276A-09E78D5F0556}"/>
                  </a:ext>
                </a:extLst>
              </p:cNvPr>
              <p:cNvSpPr/>
              <p:nvPr/>
            </p:nvSpPr>
            <p:spPr>
              <a:xfrm>
                <a:off x="6160667" y="4746831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MCP server</a:t>
                </a:r>
              </a:p>
            </p:txBody>
          </p:sp>
          <p:sp>
            <p:nvSpPr>
              <p:cNvPr id="314" name="L4">
                <a:extLst>
                  <a:ext uri="{FF2B5EF4-FFF2-40B4-BE49-F238E27FC236}">
                    <a16:creationId xmlns:a16="http://schemas.microsoft.com/office/drawing/2014/main" id="{5B7A5C21-4380-C09E-63C0-A716B4CBD2C0}"/>
                  </a:ext>
                </a:extLst>
              </p:cNvPr>
              <p:cNvSpPr/>
              <p:nvPr/>
            </p:nvSpPr>
            <p:spPr>
              <a:xfrm>
                <a:off x="6160667" y="4941715"/>
                <a:ext cx="780921" cy="15039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800" dirty="0"/>
                  <a:t>MCP server</a:t>
                </a:r>
              </a:p>
            </p:txBody>
          </p:sp>
        </p:grpSp>
        <p:cxnSp>
          <p:nvCxnSpPr>
            <p:cNvPr id="297" name="Connector: Elbow 296">
              <a:extLst>
                <a:ext uri="{FF2B5EF4-FFF2-40B4-BE49-F238E27FC236}">
                  <a16:creationId xmlns:a16="http://schemas.microsoft.com/office/drawing/2014/main" id="{7E2647E0-5451-428B-FF66-A20A0FA850F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989403" y="1730886"/>
              <a:ext cx="666168" cy="549294"/>
            </a:xfrm>
            <a:prstGeom prst="bentConnector3">
              <a:avLst>
                <a:gd name="adj1" fmla="val 98932"/>
              </a:avLst>
            </a:prstGeom>
            <a:ln>
              <a:prstDash val="sysDot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nector: Elbow 299">
              <a:extLst>
                <a:ext uri="{FF2B5EF4-FFF2-40B4-BE49-F238E27FC236}">
                  <a16:creationId xmlns:a16="http://schemas.microsoft.com/office/drawing/2014/main" id="{5127B193-33D2-8B76-E473-31A680061B09}"/>
                </a:ext>
              </a:extLst>
            </p:cNvPr>
            <p:cNvCxnSpPr>
              <a:cxnSpLocks/>
              <a:stCxn id="283" idx="1"/>
            </p:cNvCxnSpPr>
            <p:nvPr/>
          </p:nvCxnSpPr>
          <p:spPr>
            <a:xfrm rot="10800000">
              <a:off x="3599323" y="2339599"/>
              <a:ext cx="367619" cy="2015508"/>
            </a:xfrm>
            <a:prstGeom prst="bentConnector2">
              <a:avLst/>
            </a:prstGeom>
            <a:ln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9AB55E8B-A087-9BF9-778B-B815E4E0B57F}"/>
                </a:ext>
              </a:extLst>
            </p:cNvPr>
            <p:cNvSpPr txBox="1"/>
            <p:nvPr/>
          </p:nvSpPr>
          <p:spPr>
            <a:xfrm>
              <a:off x="3556484" y="2085994"/>
              <a:ext cx="66477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500" dirty="0"/>
                <a:t>Convert user profile summary to skills</a:t>
              </a:r>
              <a:endParaRPr lang="en-US" sz="500" dirty="0"/>
            </a:p>
          </p:txBody>
        </p:sp>
        <p:cxnSp>
          <p:nvCxnSpPr>
            <p:cNvPr id="316" name="Connector: Elbow 315">
              <a:extLst>
                <a:ext uri="{FF2B5EF4-FFF2-40B4-BE49-F238E27FC236}">
                  <a16:creationId xmlns:a16="http://schemas.microsoft.com/office/drawing/2014/main" id="{8B562145-E9C9-85B8-02C4-58930C999F1E}"/>
                </a:ext>
              </a:extLst>
            </p:cNvPr>
            <p:cNvCxnSpPr>
              <a:stCxn id="288" idx="3"/>
              <a:endCxn id="313" idx="1"/>
            </p:cNvCxnSpPr>
            <p:nvPr/>
          </p:nvCxnSpPr>
          <p:spPr>
            <a:xfrm>
              <a:off x="5765987" y="4618204"/>
              <a:ext cx="190782" cy="19488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Connector: Elbow 320">
              <a:extLst>
                <a:ext uri="{FF2B5EF4-FFF2-40B4-BE49-F238E27FC236}">
                  <a16:creationId xmlns:a16="http://schemas.microsoft.com/office/drawing/2014/main" id="{3E627CAA-2F6F-391B-C6BC-4B29688D1DA8}"/>
                </a:ext>
              </a:extLst>
            </p:cNvPr>
            <p:cNvCxnSpPr>
              <a:stCxn id="288" idx="3"/>
              <a:endCxn id="314" idx="1"/>
            </p:cNvCxnSpPr>
            <p:nvPr/>
          </p:nvCxnSpPr>
          <p:spPr>
            <a:xfrm>
              <a:off x="5765987" y="4618204"/>
              <a:ext cx="190782" cy="38976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D9C00AC-D3CD-A766-7717-8901483EE5F8}"/>
                </a:ext>
              </a:extLst>
            </p:cNvPr>
            <p:cNvCxnSpPr/>
            <p:nvPr/>
          </p:nvCxnSpPr>
          <p:spPr>
            <a:xfrm>
              <a:off x="3465261" y="0"/>
              <a:ext cx="0" cy="5143500"/>
            </a:xfrm>
            <a:prstGeom prst="line">
              <a:avLst/>
            </a:prstGeom>
            <a:ln w="19050" cap="flat" cmpd="sng" algn="ctr">
              <a:solidFill>
                <a:schemeClr val="bg2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DEA9FC-7DC9-DB46-6FA0-FEE04666205D}"/>
                </a:ext>
              </a:extLst>
            </p:cNvPr>
            <p:cNvSpPr txBox="1"/>
            <p:nvPr/>
          </p:nvSpPr>
          <p:spPr>
            <a:xfrm>
              <a:off x="3090073" y="-3672"/>
              <a:ext cx="37061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Offline</a:t>
              </a:r>
              <a:endParaRPr lang="en-US" sz="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9E1E65-DC28-5252-20AA-125CE13562F6}"/>
                </a:ext>
              </a:extLst>
            </p:cNvPr>
            <p:cNvSpPr txBox="1"/>
            <p:nvPr/>
          </p:nvSpPr>
          <p:spPr>
            <a:xfrm>
              <a:off x="3466769" y="-3672"/>
              <a:ext cx="36740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500" dirty="0"/>
                <a:t>Online</a:t>
              </a:r>
              <a:endParaRPr lang="en-US" sz="5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6779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552</Words>
  <Application>Microsoft Office PowerPoint</Application>
  <PresentationFormat>On-screen Show (16:9)</PresentationFormat>
  <Paragraphs>172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Diagram</dc:title>
  <dc:creator>Codex</dc:creator>
  <cp:lastModifiedBy>Kao Howard</cp:lastModifiedBy>
  <cp:revision>12</cp:revision>
  <dcterms:created xsi:type="dcterms:W3CDTF">2026-03-03T09:04:14Z</dcterms:created>
  <dcterms:modified xsi:type="dcterms:W3CDTF">2026-03-10T19:23:31Z</dcterms:modified>
</cp:coreProperties>
</file>